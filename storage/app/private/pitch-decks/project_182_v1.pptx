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24645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905000000" y="-1905000000"/>
          <a:ext cx="89001600000" cy="53340000000"/>
          <a:chOff x="-1905000000" y="-1905000000"/>
          <a:chExt cx="89001600000" cy="53340000000"/>
        </a:xfrm>
      </p:grpSpPr>
      <p:sp>
        <p:nvSpPr>
          <p:cNvPr id="2" name="" descr=""/>
          <p:cNvSpPr/>
          <p:nvPr/>
        </p:nvSpPr>
        <p:spPr>
          <a:xfrm>
            <a:off x="-1905000000" y="-1905000000"/>
            <a:ext cx="90906600000" cy="528018375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-1905000000" y="-1905000000"/>
            <a:ext cx="90906600000" cy="28575000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-1905000000" y="38100000000"/>
            <a:ext cx="90906600000" cy="15240000000"/>
          </a:xfrm>
          <a:prstGeom prst="rect">
            <a:avLst/>
          </a:prstGeom>
          <a:solidFill>
            <a:srgbClr val="09182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495300"/>
            <a:ext cx="3238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BFDBFE">
                    <a:alpha val="100000"/>
                  </a:srgbClr>
                </a:solidFill>
                <a:latin typeface="Calibri"/>
              </a:rPr>
              <a:t><![CDATA[VERTEXGRAD · INVESTOR PITCH DECK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914400"/>
            <a:ext cx="666750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ةنتكلطنلحخثقلثقكلثقحخ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790700"/>
            <a:ext cx="619125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A concise investor-facing presentation generated from approved project information.]]></a:t>
            </a:r>
          </a:p>
        </p:txBody>
      </p:sp>
      <p:sp>
        <p:nvSpPr>
          <p:cNvPr id="8" name="" descr=""/>
          <p:cNvSpPr/>
          <p:nvPr/>
        </p:nvSpPr>
        <p:spPr>
          <a:xfrm>
            <a:off x="685800" y="2876550"/>
            <a:ext cx="6191250" cy="11430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8953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8953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953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iotech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384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8384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28384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800600" y="3086100"/>
            <a:ext cx="18669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16" name="" descr=""/>
          <p:cNvSpPr/>
          <p:nvPr/>
        </p:nvSpPr>
        <p:spPr>
          <a:xfrm>
            <a:off x="480060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800600" y="3467100"/>
            <a:ext cx="18669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8" name="" descr=""/>
          <p:cNvSpPr/>
          <p:nvPr/>
        </p:nvSpPr>
        <p:spPr>
          <a:xfrm>
            <a:off x="8115300" y="666750"/>
            <a:ext cx="3314700" cy="4095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 descr=""/>
          <p:cNvSpPr/>
          <p:nvPr/>
        </p:nvSpPr>
        <p:spPr>
          <a:xfrm>
            <a:off x="8267700" y="819150"/>
            <a:ext cx="3009900" cy="37909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8496300" y="2190750"/>
            <a:ext cx="25527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9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VertexGrad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8496300" y="2609850"/>
            <a:ext cx="255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vestor Presentation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38200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38200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3276600" y="5638800"/>
            <a:ext cx="214312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3429000" y="5772150"/>
            <a:ext cx="1838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3429000" y="6000750"/>
            <a:ext cx="183832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8" name="" descr=""/>
          <p:cNvSpPr/>
          <p:nvPr/>
        </p:nvSpPr>
        <p:spPr>
          <a:xfrm>
            <a:off x="5629275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5781675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5781675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8220075" y="5638800"/>
            <a:ext cx="376237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72475" y="5772150"/>
            <a:ext cx="3457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Institution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8372475" y="6000750"/>
            <a:ext cx="345757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85800" y="6572250"/>
            <a:ext cx="107632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CBD5E1">
                    <a:alpha val="100000"/>
                  </a:srgbClr>
                </a:solidFill>
                <a:latin typeface="Calibri"/>
              </a:rPr>
              <a:t><![CDATA[Prepared for investor review and opportunity screening.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8991837500"/>
          <a:chOff x="0" y="0"/>
          <a:chExt cx="87096600000" cy="489918375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89918375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A concise view of the project, its context, and its intended valu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14450"/>
            <a:ext cx="6953250" cy="20955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14450"/>
            <a:ext cx="76200" cy="2095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485900"/>
            <a:ext cx="6457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Summar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866900"/>
            <a:ext cx="6457950" cy="1314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summary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7905750" y="1390650"/>
            <a:ext cx="3429000" cy="59055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8077200" y="15049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077200" y="16764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4" name="" descr=""/>
          <p:cNvSpPr/>
          <p:nvPr/>
        </p:nvSpPr>
        <p:spPr>
          <a:xfrm>
            <a:off x="7905750" y="2114550"/>
            <a:ext cx="3429000" cy="59055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8077200" y="22288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8077200" y="24003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7905750" y="2838450"/>
            <a:ext cx="3429000" cy="59055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8077200" y="29527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Department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8077200" y="31242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 descr=""/>
          <p:cNvSpPr/>
          <p:nvPr/>
        </p:nvSpPr>
        <p:spPr>
          <a:xfrm>
            <a:off x="66675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9535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23" name="" descr=""/>
          <p:cNvSpPr/>
          <p:nvPr/>
        </p:nvSpPr>
        <p:spPr>
          <a:xfrm>
            <a:off x="8953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89535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438150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 descr=""/>
          <p:cNvSpPr/>
          <p:nvPr/>
        </p:nvSpPr>
        <p:spPr>
          <a:xfrm>
            <a:off x="438150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/>
          <p:cNvSpPr txBox="1"/>
          <p:nvPr/>
        </p:nvSpPr>
        <p:spPr>
          <a:xfrm>
            <a:off x="461010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28" name="" descr=""/>
          <p:cNvSpPr/>
          <p:nvPr/>
        </p:nvSpPr>
        <p:spPr>
          <a:xfrm>
            <a:off x="461010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461010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096250" y="3771900"/>
            <a:ext cx="32385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 descr=""/>
          <p:cNvSpPr/>
          <p:nvPr/>
        </p:nvSpPr>
        <p:spPr>
          <a:xfrm>
            <a:off x="8096250" y="3771900"/>
            <a:ext cx="32385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24850" y="4038600"/>
            <a:ext cx="27813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Target Beneficiaries]]></a:t>
            </a:r>
          </a:p>
        </p:txBody>
      </p:sp>
      <p:sp>
        <p:nvSpPr>
          <p:cNvPr id="33" name="" descr=""/>
          <p:cNvSpPr/>
          <p:nvPr/>
        </p:nvSpPr>
        <p:spPr>
          <a:xfrm>
            <a:off x="83248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4" name=""/>
          <p:cNvSpPr txBox="1"/>
          <p:nvPr/>
        </p:nvSpPr>
        <p:spPr>
          <a:xfrm>
            <a:off x="8324850" y="4591050"/>
            <a:ext cx="27813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8991837500"/>
          <a:chOff x="0" y="0"/>
          <a:chExt cx="87096600000" cy="489918375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89918375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& Impa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Why this project matters and what value it aims to creat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blem statement not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28650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28650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53415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pected Impact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53415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Expected impact not provided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905250"/>
            <a:ext cx="10858500" cy="20383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 descr=""/>
          <p:cNvSpPr/>
          <p:nvPr/>
        </p:nvSpPr>
        <p:spPr>
          <a:xfrm>
            <a:off x="666750" y="3905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914400" y="42100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munity Benefit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914400" y="4591050"/>
            <a:ext cx="47625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Community benefit not provided.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286500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419850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6419850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iotech]]></a:t>
            </a:r>
          </a:p>
        </p:txBody>
      </p:sp>
      <p:sp>
        <p:nvSpPr>
          <p:cNvPr id="22" name="" descr=""/>
          <p:cNvSpPr/>
          <p:nvPr/>
        </p:nvSpPr>
        <p:spPr>
          <a:xfrm>
            <a:off x="8048625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181975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eneficiaries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181975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9810750" y="4324350"/>
            <a:ext cx="1428750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9944100" y="4457700"/>
            <a:ext cx="116205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g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9944100" y="4705350"/>
            <a:ext cx="11620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8991837500"/>
          <a:chOff x="0" y="0"/>
          <a:chExt cx="87096600000" cy="489918375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89918375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apital need, timeline, and requested support structur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33500"/>
            <a:ext cx="2524125" cy="10287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819150" y="1466850"/>
            <a:ext cx="2219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19150" y="1752600"/>
            <a:ext cx="22193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381375" y="1333500"/>
            <a:ext cx="2381250" cy="10287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533775" y="14668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533775" y="1752600"/>
            <a:ext cx="207645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5953125" y="1333500"/>
            <a:ext cx="2667000" cy="10287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6105525" y="1466850"/>
            <a:ext cx="23622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Needs Funding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105525" y="1752600"/>
            <a:ext cx="23622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6" name="" descr=""/>
          <p:cNvSpPr/>
          <p:nvPr/>
        </p:nvSpPr>
        <p:spPr>
          <a:xfrm>
            <a:off x="8810625" y="1333500"/>
            <a:ext cx="2714625" cy="10287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8963025" y="1466850"/>
            <a:ext cx="24098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8963025" y="1752600"/>
            <a:ext cx="24098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66750" y="2714625"/>
            <a:ext cx="6858000" cy="30003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2714625"/>
            <a:ext cx="76200" cy="3000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914400" y="2886075"/>
            <a:ext cx="636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Breakdow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914400" y="3267075"/>
            <a:ext cx="6362700" cy="22193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Budget breakdown not provided.]]></a:t>
            </a:r>
          </a:p>
        </p:txBody>
      </p:sp>
      <p:sp>
        <p:nvSpPr>
          <p:cNvPr id="23" name="" descr=""/>
          <p:cNvSpPr/>
          <p:nvPr/>
        </p:nvSpPr>
        <p:spPr>
          <a:xfrm>
            <a:off x="7810500" y="2714625"/>
            <a:ext cx="3714750" cy="3000375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 descr=""/>
          <p:cNvSpPr/>
          <p:nvPr/>
        </p:nvSpPr>
        <p:spPr>
          <a:xfrm>
            <a:off x="7810500" y="2714625"/>
            <a:ext cx="3714750" cy="762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096250" y="3028950"/>
            <a:ext cx="26670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Posi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096250" y="3390900"/>
            <a:ext cx="285750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BBF7D0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8096250" y="4000500"/>
            <a:ext cx="27622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Target capital requirement]]></a:t>
            </a:r>
          </a:p>
        </p:txBody>
      </p:sp>
      <p:sp>
        <p:nvSpPr>
          <p:cNvPr id="28" name="" descr=""/>
          <p:cNvSpPr/>
          <p:nvPr/>
        </p:nvSpPr>
        <p:spPr>
          <a:xfrm>
            <a:off x="8096250" y="4362450"/>
            <a:ext cx="3143250" cy="9525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8096250" y="45910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096250" y="47815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8096250" y="51244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D6A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096250" y="53149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8991837500"/>
          <a:chOff x="0" y="0"/>
          <a:chExt cx="87096600000" cy="489918375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89918375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on Mileston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Key phases planned for implementation and delivery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1047750" y="3067050"/>
            <a:ext cx="10096500" cy="2857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6667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9334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1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334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9334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2288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 descr=""/>
          <p:cNvSpPr/>
          <p:nvPr/>
        </p:nvSpPr>
        <p:spPr>
          <a:xfrm>
            <a:off x="9334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9334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9334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38150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 descr=""/>
          <p:cNvSpPr/>
          <p:nvPr/>
        </p:nvSpPr>
        <p:spPr>
          <a:xfrm>
            <a:off x="438150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464820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64820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64820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22" name="" descr=""/>
          <p:cNvSpPr/>
          <p:nvPr/>
        </p:nvSpPr>
        <p:spPr>
          <a:xfrm>
            <a:off x="594360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 descr=""/>
          <p:cNvSpPr/>
          <p:nvPr/>
        </p:nvSpPr>
        <p:spPr>
          <a:xfrm>
            <a:off x="464820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464820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64820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26" name="" descr=""/>
          <p:cNvSpPr/>
          <p:nvPr/>
        </p:nvSpPr>
        <p:spPr>
          <a:xfrm>
            <a:off x="80962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 descr=""/>
          <p:cNvSpPr/>
          <p:nvPr/>
        </p:nvSpPr>
        <p:spPr>
          <a:xfrm>
            <a:off x="80962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83629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3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83629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3629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96583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 descr=""/>
          <p:cNvSpPr/>
          <p:nvPr/>
        </p:nvSpPr>
        <p:spPr>
          <a:xfrm>
            <a:off x="83629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3" name=""/>
          <p:cNvSpPr txBox="1"/>
          <p:nvPr/>
        </p:nvSpPr>
        <p:spPr>
          <a:xfrm>
            <a:off x="83629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83629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8991837500"/>
          <a:chOff x="0" y="0"/>
          <a:chExt cx="87096600000" cy="489918375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89918375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& Review Readines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Institutional context, review status, and credibility indicators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14350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6482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Contex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64820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Student: بب
Academic Level: Not specified
Supervisor: و
University: Not specified
Department: Not specified
Governorate: Not specified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096000" y="1352550"/>
            <a:ext cx="542925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09600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343650" y="1524000"/>
            <a:ext cx="4933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l Review No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343650" y="1905000"/>
            <a:ext cx="493395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final review note available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714750"/>
            <a:ext cx="2428875" cy="10668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81915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Approved Review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81915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8" name="" descr=""/>
          <p:cNvSpPr/>
          <p:nvPr/>
        </p:nvSpPr>
        <p:spPr>
          <a:xfrm>
            <a:off x="3286125" y="3714750"/>
            <a:ext cx="2428875" cy="10668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3438525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Approved Investments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438525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21" name="" descr=""/>
          <p:cNvSpPr/>
          <p:nvPr/>
        </p:nvSpPr>
        <p:spPr>
          <a:xfrm>
            <a:off x="5905500" y="3714750"/>
            <a:ext cx="2428875" cy="10668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605790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can Score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605790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4" name="" descr=""/>
          <p:cNvSpPr/>
          <p:nvPr/>
        </p:nvSpPr>
        <p:spPr>
          <a:xfrm>
            <a:off x="8524875" y="3714750"/>
            <a:ext cx="3000375" cy="10668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677275" y="3848100"/>
            <a:ext cx="2695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677275" y="4133850"/>
            <a:ext cx="26955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7" name="" descr=""/>
          <p:cNvSpPr/>
          <p:nvPr/>
        </p:nvSpPr>
        <p:spPr>
          <a:xfrm>
            <a:off x="666750" y="5048250"/>
            <a:ext cx="10858500" cy="876300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 descr=""/>
          <p:cNvSpPr/>
          <p:nvPr/>
        </p:nvSpPr>
        <p:spPr>
          <a:xfrm>
            <a:off x="666750" y="5048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914400" y="5295900"/>
            <a:ext cx="2095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ecision Status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914400" y="5486400"/>
            <a:ext cx="2381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ublish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714750" y="5295900"/>
            <a:ext cx="1905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ervisor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3714750" y="5486400"/>
            <a:ext cx="2476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و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667500" y="5295900"/>
            <a:ext cx="1714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tudent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667500" y="5486400"/>
            <a:ext cx="2286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بب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9334500" y="5295900"/>
            <a:ext cx="16192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viewed At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9334500" y="5486400"/>
            <a:ext cx="1619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2026-04-26 22:02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1">
  <a:themeElements>
    <a:clrScheme name="Theme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2026-04-26T19:03:01Z</dcterms:created>
  <dcterms:modified xsi:type="dcterms:W3CDTF">2026-04-26T19:03:01Z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