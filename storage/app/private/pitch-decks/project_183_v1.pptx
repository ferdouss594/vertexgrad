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24749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solidFill>
            <a:srgbClr val="09182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495300"/>
            <a:ext cx="3238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BFDBFE">
                    <a:alpha val="100000"/>
                  </a:srgbClr>
                </a:solidFill>
                <a:latin typeface="Arial"/>
              </a:rPr>
              <a:t><![CDATA[VERTEXGRAD · INVESTOR PITCH DECK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914400"/>
            <a:ext cx="666750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كمنلثقنلتثقحلتثقحخلشثقلىثحقنلتث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790700"/>
            <a:ext cx="619125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A concise investor-facing presentation generated from approved project information.]]></a:t>
            </a:r>
          </a:p>
        </p:txBody>
      </p:sp>
      <p:sp>
        <p:nvSpPr>
          <p:cNvPr id="8" name="" descr=""/>
          <p:cNvSpPr/>
          <p:nvPr/>
        </p:nvSpPr>
        <p:spPr>
          <a:xfrm>
            <a:off x="685800" y="2876550"/>
            <a:ext cx="6191250" cy="11430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8953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CATEGO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8953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953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ai_ml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384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PROJECT TYPE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8384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28384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800600" y="3086100"/>
            <a:ext cx="18669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PROJECT NATURE]]></a:t>
            </a:r>
          </a:p>
        </p:txBody>
      </p:sp>
      <p:sp>
        <p:nvSpPr>
          <p:cNvPr id="16" name="" descr=""/>
          <p:cNvSpPr/>
          <p:nvPr/>
        </p:nvSpPr>
        <p:spPr>
          <a:xfrm>
            <a:off x="480060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800600" y="3467100"/>
            <a:ext cx="18669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18" name="" descr=""/>
          <p:cNvSpPr/>
          <p:nvPr/>
        </p:nvSpPr>
        <p:spPr>
          <a:xfrm>
            <a:off x="8115300" y="666750"/>
            <a:ext cx="3314700" cy="4095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 descr=""/>
          <p:cNvSpPr/>
          <p:nvPr/>
        </p:nvSpPr>
        <p:spPr>
          <a:xfrm>
            <a:off x="8267700" y="819150"/>
            <a:ext cx="3009900" cy="37909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8496300" y="2190750"/>
            <a:ext cx="25527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9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VertexGrad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8496300" y="2609850"/>
            <a:ext cx="255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Investor Presentation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38200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Budget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38200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3276600" y="5638800"/>
            <a:ext cx="214312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3429000" y="5772150"/>
            <a:ext cx="1838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Durat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3429000" y="6000750"/>
            <a:ext cx="183832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28" name="" descr=""/>
          <p:cNvSpPr/>
          <p:nvPr/>
        </p:nvSpPr>
        <p:spPr>
          <a:xfrm>
            <a:off x="5629275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5781675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Support Typ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5781675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31" name="" descr=""/>
          <p:cNvSpPr/>
          <p:nvPr/>
        </p:nvSpPr>
        <p:spPr>
          <a:xfrm>
            <a:off x="8220075" y="5638800"/>
            <a:ext cx="376237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72475" y="5772150"/>
            <a:ext cx="3457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Institution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8372475" y="6000750"/>
            <a:ext cx="345757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85800" y="6572250"/>
            <a:ext cx="107632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CBD5E1">
                    <a:alpha val="100000"/>
                  </a:srgbClr>
                </a:solidFill>
                <a:latin typeface="Arial"/>
              </a:rPr>
              <a:t><![CDATA[Prepared for investor review and opportunity screening.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Executive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A concise view of the project, its context, and its intended valu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14450"/>
            <a:ext cx="6953250" cy="20955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14450"/>
            <a:ext cx="76200" cy="2095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485900"/>
            <a:ext cx="6457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Project Summary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866900"/>
            <a:ext cx="6457950" cy="1314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No summary provided.]]></a:t>
            </a:r>
          </a:p>
        </p:txBody>
      </p:sp>
      <p:sp>
        <p:nvSpPr>
          <p:cNvPr id="11" name="" descr=""/>
          <p:cNvSpPr/>
          <p:nvPr/>
        </p:nvSpPr>
        <p:spPr>
          <a:xfrm>
            <a:off x="7905750" y="1390650"/>
            <a:ext cx="3429000" cy="59055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8077200" y="15049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Funding Needed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077200" y="16764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14" name="" descr=""/>
          <p:cNvSpPr/>
          <p:nvPr/>
        </p:nvSpPr>
        <p:spPr>
          <a:xfrm>
            <a:off x="7905750" y="2114550"/>
            <a:ext cx="3429000" cy="59055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8077200" y="22288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86EFAC">
                    <a:alpha val="100000"/>
                  </a:srgbClr>
                </a:solidFill>
                <a:latin typeface="Arial"/>
              </a:rPr>
              <a:t><![CDATA[Scanner Status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8077200" y="24003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availabl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7905750" y="2838450"/>
            <a:ext cx="3429000" cy="59055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8077200" y="29527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D8B4FE">
                    <a:alpha val="100000"/>
                  </a:srgbClr>
                </a:solidFill>
                <a:latin typeface="Arial"/>
              </a:rPr>
              <a:t><![CDATA[Department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8077200" y="31242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 descr=""/>
          <p:cNvSpPr/>
          <p:nvPr/>
        </p:nvSpPr>
        <p:spPr>
          <a:xfrm>
            <a:off x="66675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89535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Project Nature]]></a:t>
            </a:r>
          </a:p>
        </p:txBody>
      </p:sp>
      <p:sp>
        <p:nvSpPr>
          <p:cNvPr id="23" name="" descr=""/>
          <p:cNvSpPr/>
          <p:nvPr/>
        </p:nvSpPr>
        <p:spPr>
          <a:xfrm>
            <a:off x="8953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89535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438150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 descr=""/>
          <p:cNvSpPr/>
          <p:nvPr/>
        </p:nvSpPr>
        <p:spPr>
          <a:xfrm>
            <a:off x="438150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/>
          <p:cNvSpPr txBox="1"/>
          <p:nvPr/>
        </p:nvSpPr>
        <p:spPr>
          <a:xfrm>
            <a:off x="461010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Project Type]]></a:t>
            </a:r>
          </a:p>
        </p:txBody>
      </p:sp>
      <p:sp>
        <p:nvSpPr>
          <p:cNvPr id="28" name="" descr=""/>
          <p:cNvSpPr/>
          <p:nvPr/>
        </p:nvSpPr>
        <p:spPr>
          <a:xfrm>
            <a:off x="461010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461010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30" name="" descr=""/>
          <p:cNvSpPr/>
          <p:nvPr/>
        </p:nvSpPr>
        <p:spPr>
          <a:xfrm>
            <a:off x="8096250" y="3771900"/>
            <a:ext cx="32385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1" name="" descr=""/>
          <p:cNvSpPr/>
          <p:nvPr/>
        </p:nvSpPr>
        <p:spPr>
          <a:xfrm>
            <a:off x="8096250" y="3771900"/>
            <a:ext cx="32385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24850" y="4038600"/>
            <a:ext cx="27813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Target Beneficiaries]]></a:t>
            </a:r>
          </a:p>
        </p:txBody>
      </p:sp>
      <p:sp>
        <p:nvSpPr>
          <p:cNvPr id="33" name="" descr=""/>
          <p:cNvSpPr/>
          <p:nvPr/>
        </p:nvSpPr>
        <p:spPr>
          <a:xfrm>
            <a:off x="83248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4" name=""/>
          <p:cNvSpPr txBox="1"/>
          <p:nvPr/>
        </p:nvSpPr>
        <p:spPr>
          <a:xfrm>
            <a:off x="8324850" y="4591050"/>
            <a:ext cx="27813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Problem & Impa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Why this project matters and what value it aims to creat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Problem Stateme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Problem statement not provided.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28650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28650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53415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Expected Impact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53415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Expected impact not provided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905250"/>
            <a:ext cx="10858500" cy="20383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 descr=""/>
          <p:cNvSpPr/>
          <p:nvPr/>
        </p:nvSpPr>
        <p:spPr>
          <a:xfrm>
            <a:off x="666750" y="3905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914400" y="42100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Community Benefit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914400" y="4591050"/>
            <a:ext cx="47625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Community benefit not provided.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286500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419850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Categor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6419850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ai_ml]]></a:t>
            </a:r>
          </a:p>
        </p:txBody>
      </p:sp>
      <p:sp>
        <p:nvSpPr>
          <p:cNvPr id="22" name="" descr=""/>
          <p:cNvSpPr/>
          <p:nvPr/>
        </p:nvSpPr>
        <p:spPr>
          <a:xfrm>
            <a:off x="8048625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181975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Beneficiaries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181975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9810750" y="4324350"/>
            <a:ext cx="1428750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9944100" y="4457700"/>
            <a:ext cx="116205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Reg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9944100" y="4705350"/>
            <a:ext cx="11620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Funding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Capital need, timeline, and requested support structur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33500"/>
            <a:ext cx="2524125" cy="10287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819150" y="1466850"/>
            <a:ext cx="2219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Arial"/>
              </a:rPr>
              <a:t><![CDATA[Budge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19150" y="1752600"/>
            <a:ext cx="22193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381375" y="1333500"/>
            <a:ext cx="2381250" cy="10287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533775" y="14668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Duratio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533775" y="1752600"/>
            <a:ext cx="207645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5953125" y="1333500"/>
            <a:ext cx="2667000" cy="10287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6105525" y="1466850"/>
            <a:ext cx="23622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Arial"/>
              </a:rPr>
              <a:t><![CDATA[Needs Funding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105525" y="1752600"/>
            <a:ext cx="23622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16" name="" descr=""/>
          <p:cNvSpPr/>
          <p:nvPr/>
        </p:nvSpPr>
        <p:spPr>
          <a:xfrm>
            <a:off x="8810625" y="1333500"/>
            <a:ext cx="2714625" cy="10287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8963025" y="1466850"/>
            <a:ext cx="24098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Arial"/>
              </a:rPr>
              <a:t><![CDATA[Support Type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8963025" y="1752600"/>
            <a:ext cx="24098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66750" y="2714625"/>
            <a:ext cx="6858000" cy="30003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2714625"/>
            <a:ext cx="76200" cy="3000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914400" y="2886075"/>
            <a:ext cx="636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Budget Breakdow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914400" y="3267075"/>
            <a:ext cx="6362700" cy="22193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Budget breakdown not provided.]]></a:t>
            </a:r>
          </a:p>
        </p:txBody>
      </p:sp>
      <p:sp>
        <p:nvSpPr>
          <p:cNvPr id="23" name="" descr=""/>
          <p:cNvSpPr/>
          <p:nvPr/>
        </p:nvSpPr>
        <p:spPr>
          <a:xfrm>
            <a:off x="7810500" y="2714625"/>
            <a:ext cx="3714750" cy="3000375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 descr=""/>
          <p:cNvSpPr/>
          <p:nvPr/>
        </p:nvSpPr>
        <p:spPr>
          <a:xfrm>
            <a:off x="7810500" y="2714625"/>
            <a:ext cx="3714750" cy="762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096250" y="3028950"/>
            <a:ext cx="26670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Funding Positio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096250" y="3390900"/>
            <a:ext cx="285750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BBF7D0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8096250" y="4000500"/>
            <a:ext cx="27622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Target capital requirement]]></a:t>
            </a:r>
          </a:p>
        </p:txBody>
      </p:sp>
      <p:sp>
        <p:nvSpPr>
          <p:cNvPr id="28" name="" descr=""/>
          <p:cNvSpPr/>
          <p:nvPr/>
        </p:nvSpPr>
        <p:spPr>
          <a:xfrm>
            <a:off x="8096250" y="4362450"/>
            <a:ext cx="3143250" cy="9525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8096250" y="45910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Funding Needed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096250" y="47815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8096250" y="51244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D6AE">
                    <a:alpha val="100000"/>
                  </a:srgbClr>
                </a:solidFill>
                <a:latin typeface="Arial"/>
              </a:rPr>
              <a:t><![CDATA[Support Type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8096250" y="53149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Execution Mileston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Key phases planned for implementation and delivery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1047750" y="3067050"/>
            <a:ext cx="10096500" cy="2857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6667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9334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Arial"/>
              </a:rPr>
              <a:t><![CDATA[01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9334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Milestone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9334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Milestone details not provid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2288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 descr=""/>
          <p:cNvSpPr/>
          <p:nvPr/>
        </p:nvSpPr>
        <p:spPr>
          <a:xfrm>
            <a:off x="9334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9334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Planned Month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9334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TBD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38150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 descr=""/>
          <p:cNvSpPr/>
          <p:nvPr/>
        </p:nvSpPr>
        <p:spPr>
          <a:xfrm>
            <a:off x="438150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464820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Arial"/>
              </a:rPr>
              <a:t><![CDATA[0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64820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Mileston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64820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Milestone details not provided]]></a:t>
            </a:r>
          </a:p>
        </p:txBody>
      </p:sp>
      <p:sp>
        <p:nvSpPr>
          <p:cNvPr id="22" name="" descr=""/>
          <p:cNvSpPr/>
          <p:nvPr/>
        </p:nvSpPr>
        <p:spPr>
          <a:xfrm>
            <a:off x="594360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 descr=""/>
          <p:cNvSpPr/>
          <p:nvPr/>
        </p:nvSpPr>
        <p:spPr>
          <a:xfrm>
            <a:off x="464820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464820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Planned Mon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64820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TBD]]></a:t>
            </a:r>
          </a:p>
        </p:txBody>
      </p:sp>
      <p:sp>
        <p:nvSpPr>
          <p:cNvPr id="26" name="" descr=""/>
          <p:cNvSpPr/>
          <p:nvPr/>
        </p:nvSpPr>
        <p:spPr>
          <a:xfrm>
            <a:off x="80962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 descr=""/>
          <p:cNvSpPr/>
          <p:nvPr/>
        </p:nvSpPr>
        <p:spPr>
          <a:xfrm>
            <a:off x="80962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/>
          <p:cNvSpPr txBox="1"/>
          <p:nvPr/>
        </p:nvSpPr>
        <p:spPr>
          <a:xfrm>
            <a:off x="83629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Arial"/>
              </a:rPr>
              <a:t><![CDATA[03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83629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Mileston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3629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Milestone details not provided]]></a:t>
            </a:r>
          </a:p>
        </p:txBody>
      </p:sp>
      <p:sp>
        <p:nvSpPr>
          <p:cNvPr id="31" name="" descr=""/>
          <p:cNvSpPr/>
          <p:nvPr/>
        </p:nvSpPr>
        <p:spPr>
          <a:xfrm>
            <a:off x="96583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 descr=""/>
          <p:cNvSpPr/>
          <p:nvPr/>
        </p:nvSpPr>
        <p:spPr>
          <a:xfrm>
            <a:off x="83629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3" name=""/>
          <p:cNvSpPr txBox="1"/>
          <p:nvPr/>
        </p:nvSpPr>
        <p:spPr>
          <a:xfrm>
            <a:off x="83629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Planned Mont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83629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TBD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Academic & Review Readines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Arial"/>
              </a:rPr>
              <a:t><![CDATA[Institutional context, review status, and credibility indicators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14350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6482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Academic Contex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64820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Student: بب
Academic Level: Not specified
Supervisor: Main Supervisor
University: Not specified
Department: Not specified
Governorate: Not specified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096000" y="1352550"/>
            <a:ext cx="542925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09600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343650" y="1524000"/>
            <a:ext cx="4933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Final Review No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343650" y="1905000"/>
            <a:ext cx="493395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Arial"/>
              </a:rPr>
              <a:t><![CDATA[No final review note available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714750"/>
            <a:ext cx="2428875" cy="10668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81915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Approved Reviews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81915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1]]></a:t>
            </a:r>
          </a:p>
        </p:txBody>
      </p:sp>
      <p:sp>
        <p:nvSpPr>
          <p:cNvPr id="18" name="" descr=""/>
          <p:cNvSpPr/>
          <p:nvPr/>
        </p:nvSpPr>
        <p:spPr>
          <a:xfrm>
            <a:off x="3286125" y="3714750"/>
            <a:ext cx="2428875" cy="10668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3438525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Arial"/>
              </a:rPr>
              <a:t><![CDATA[Approved Investments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438525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0]]></a:t>
            </a:r>
          </a:p>
        </p:txBody>
      </p:sp>
      <p:sp>
        <p:nvSpPr>
          <p:cNvPr id="21" name="" descr=""/>
          <p:cNvSpPr/>
          <p:nvPr/>
        </p:nvSpPr>
        <p:spPr>
          <a:xfrm>
            <a:off x="5905500" y="3714750"/>
            <a:ext cx="2428875" cy="10668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605790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Arial"/>
              </a:rPr>
              <a:t><![CDATA[Scan Score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605790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available]]></a:t>
            </a:r>
          </a:p>
        </p:txBody>
      </p:sp>
      <p:sp>
        <p:nvSpPr>
          <p:cNvPr id="24" name="" descr=""/>
          <p:cNvSpPr/>
          <p:nvPr/>
        </p:nvSpPr>
        <p:spPr>
          <a:xfrm>
            <a:off x="8524875" y="3714750"/>
            <a:ext cx="3000375" cy="10668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677275" y="3848100"/>
            <a:ext cx="2695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Arial"/>
              </a:rPr>
              <a:t><![CDATA[Scanner Status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677275" y="4133850"/>
            <a:ext cx="26955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Not available]]></a:t>
            </a:r>
          </a:p>
        </p:txBody>
      </p:sp>
      <p:sp>
        <p:nvSpPr>
          <p:cNvPr id="27" name="" descr=""/>
          <p:cNvSpPr/>
          <p:nvPr/>
        </p:nvSpPr>
        <p:spPr>
          <a:xfrm>
            <a:off x="666750" y="5048250"/>
            <a:ext cx="10858500" cy="876300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 descr=""/>
          <p:cNvSpPr/>
          <p:nvPr/>
        </p:nvSpPr>
        <p:spPr>
          <a:xfrm>
            <a:off x="666750" y="5048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914400" y="5295900"/>
            <a:ext cx="2095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Decision Status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914400" y="5486400"/>
            <a:ext cx="2381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publish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714750" y="5295900"/>
            <a:ext cx="1905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Supervisor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3714750" y="5486400"/>
            <a:ext cx="2476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Main Supervisor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6667500" y="5295900"/>
            <a:ext cx="1714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Student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667500" y="5486400"/>
            <a:ext cx="2286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بب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9334500" y="5295900"/>
            <a:ext cx="16192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Arial"/>
              </a:rPr>
              <a:t><![CDATA[Reviewed At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9334500" y="5486400"/>
            <a:ext cx="1619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Arial"/>
              </a:rPr>
              <a:t><![CDATA[2026-04-26 22:19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4">
  <a:themeElements>
    <a:clrScheme name="Theme5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2026-04-26T19:20:25Z</dcterms:created>
  <dcterms:modified xsi:type="dcterms:W3CDTF">2026-04-26T19:20:25Z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