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9144000" cy="5143500" type="screen16x9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presProps" Target="presProps.xml"/>
  <Relationship Id="rId10" Type="http://schemas.openxmlformats.org/officeDocument/2006/relationships/viewProps" Target="viewProps.xml"/>
  <Relationship Id="rId11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64825863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42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creenshot-(6)1.png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5001875" cy="6858000"/>
          <a:chOff x="0" y="0"/>
          <a:chExt cx="15001875" cy="6858000"/>
        </a:xfrm>
      </p:grpSpPr>
      <p:sp>
        <p:nvSpPr>
          <p:cNvPr id="2" name="" descr="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22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0" y="5381625"/>
            <a:ext cx="12192000" cy="1476375"/>
          </a:xfrm>
          <a:prstGeom prst="rect">
            <a:avLst/>
          </a:prstGeom>
          <a:solidFill>
            <a:srgbClr val="09182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/>
          <p:cNvSpPr txBox="1"/>
          <p:nvPr/>
        </p:nvSpPr>
        <p:spPr>
          <a:xfrm>
            <a:off x="685800" y="495300"/>
            <a:ext cx="3238500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300" spc="0" u="none" cap="none">
                <a:solidFill>
                  <a:srgbClr val="BFDBFE">
                    <a:alpha val="100000"/>
                  </a:srgbClr>
                </a:solidFill>
                <a:latin typeface="Calibri"/>
              </a:rPr>
              <a:t><![CDATA[VERTEXGRAD · INVESTOR PITCH DECK]]></a:t>
            </a:r>
          </a:p>
        </p:txBody>
      </p:sp>
      <p:sp>
        <p:nvSpPr>
          <p:cNvPr id="6" name=""/>
          <p:cNvSpPr txBox="1"/>
          <p:nvPr/>
        </p:nvSpPr>
        <p:spPr>
          <a:xfrm>
            <a:off x="685800" y="914400"/>
            <a:ext cx="6667500" cy="8001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31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تجربة الباور5]]></a:t>
            </a:r>
          </a:p>
        </p:txBody>
      </p:sp>
      <p:sp>
        <p:nvSpPr>
          <p:cNvPr id="7" name=""/>
          <p:cNvSpPr txBox="1"/>
          <p:nvPr/>
        </p:nvSpPr>
        <p:spPr>
          <a:xfrm>
            <a:off x="685800" y="1790700"/>
            <a:ext cx="6191250" cy="8001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800" spc="0" u="none" cap="none">
                <a:solidFill>
                  <a:srgbClr val="E5E7EB">
                    <a:alpha val="100000"/>
                  </a:srgbClr>
                </a:solidFill>
                <a:latin typeface="Calibri"/>
              </a:rPr>
              <a:t><![CDATA[A concise investor-facing presentation generated from approved project information.]]></a:t>
            </a:r>
          </a:p>
        </p:txBody>
      </p:sp>
      <p:sp>
        <p:nvSpPr>
          <p:cNvPr id="8" name="" descr=""/>
          <p:cNvSpPr/>
          <p:nvPr/>
        </p:nvSpPr>
        <p:spPr>
          <a:xfrm>
            <a:off x="685800" y="2876550"/>
            <a:ext cx="6191250" cy="1143000"/>
          </a:xfrm>
          <a:prstGeom prst="rect">
            <a:avLst/>
          </a:prstGeom>
          <a:solidFill>
            <a:srgbClr val="0F1D3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9" name=""/>
          <p:cNvSpPr txBox="1"/>
          <p:nvPr/>
        </p:nvSpPr>
        <p:spPr>
          <a:xfrm>
            <a:off x="895350" y="3086100"/>
            <a:ext cx="1809750" cy="1524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000" spc="0" u="none" cap="none">
                <a:solidFill>
                  <a:srgbClr val="93C5FD">
                    <a:alpha val="100000"/>
                  </a:srgbClr>
                </a:solidFill>
                <a:latin typeface="Calibri"/>
              </a:rPr>
              <a:t><![CDATA[CATEGORY]]></a:t>
            </a:r>
          </a:p>
        </p:txBody>
      </p:sp>
      <p:sp>
        <p:nvSpPr>
          <p:cNvPr id="10" name="" descr=""/>
          <p:cNvSpPr/>
          <p:nvPr/>
        </p:nvSpPr>
        <p:spPr>
          <a:xfrm>
            <a:off x="895350" y="3314700"/>
            <a:ext cx="533400" cy="28575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1" name=""/>
          <p:cNvSpPr txBox="1"/>
          <p:nvPr/>
        </p:nvSpPr>
        <p:spPr>
          <a:xfrm>
            <a:off x="895350" y="3467100"/>
            <a:ext cx="180975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7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energy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2838450" y="3086100"/>
            <a:ext cx="1809750" cy="1524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000" spc="0" u="none" cap="none">
                <a:solidFill>
                  <a:srgbClr val="93C5FD">
                    <a:alpha val="100000"/>
                  </a:srgbClr>
                </a:solidFill>
                <a:latin typeface="Calibri"/>
              </a:rPr>
              <a:t><![CDATA[PROJECT TYPE]]></a:t>
            </a:r>
          </a:p>
        </p:txBody>
      </p:sp>
      <p:sp>
        <p:nvSpPr>
          <p:cNvPr id="13" name="" descr=""/>
          <p:cNvSpPr/>
          <p:nvPr/>
        </p:nvSpPr>
        <p:spPr>
          <a:xfrm>
            <a:off x="2838450" y="3314700"/>
            <a:ext cx="533400" cy="28575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4" name=""/>
          <p:cNvSpPr txBox="1"/>
          <p:nvPr/>
        </p:nvSpPr>
        <p:spPr>
          <a:xfrm>
            <a:off x="2838450" y="3467100"/>
            <a:ext cx="180975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7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Not specified]]></a:t>
            </a:r>
          </a:p>
        </p:txBody>
      </p:sp>
      <p:sp>
        <p:nvSpPr>
          <p:cNvPr id="15" name=""/>
          <p:cNvSpPr txBox="1"/>
          <p:nvPr/>
        </p:nvSpPr>
        <p:spPr>
          <a:xfrm>
            <a:off x="4800600" y="3086100"/>
            <a:ext cx="1866900" cy="1524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000" spc="0" u="none" cap="none">
                <a:solidFill>
                  <a:srgbClr val="93C5FD">
                    <a:alpha val="100000"/>
                  </a:srgbClr>
                </a:solidFill>
                <a:latin typeface="Calibri"/>
              </a:rPr>
              <a:t><![CDATA[PROJECT NATURE]]></a:t>
            </a:r>
          </a:p>
        </p:txBody>
      </p:sp>
      <p:sp>
        <p:nvSpPr>
          <p:cNvPr id="16" name="" descr=""/>
          <p:cNvSpPr/>
          <p:nvPr/>
        </p:nvSpPr>
        <p:spPr>
          <a:xfrm>
            <a:off x="4800600" y="3314700"/>
            <a:ext cx="533400" cy="28575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7" name=""/>
          <p:cNvSpPr txBox="1"/>
          <p:nvPr/>
        </p:nvSpPr>
        <p:spPr>
          <a:xfrm>
            <a:off x="4800600" y="3467100"/>
            <a:ext cx="18669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7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Not specified]]></a:t>
            </a:r>
          </a:p>
        </p:txBody>
      </p:sp>
      <p:sp>
        <p:nvSpPr>
          <p:cNvPr id="18" name="" descr=""/>
          <p:cNvSpPr/>
          <p:nvPr/>
        </p:nvSpPr>
        <p:spPr>
          <a:xfrm>
            <a:off x="8115300" y="666750"/>
            <a:ext cx="3314700" cy="4095750"/>
          </a:xfrm>
          <a:prstGeom prst="rect">
            <a:avLst/>
          </a:prstGeom>
          <a:solidFill>
            <a:srgbClr val="0F1D3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9" name="" descr=""/>
          <p:cNvSpPr/>
          <p:nvPr/>
        </p:nvSpPr>
        <p:spPr>
          <a:xfrm>
            <a:off x="8267700" y="819150"/>
            <a:ext cx="3009900" cy="3790950"/>
          </a:xfrm>
          <a:prstGeom prst="rect">
            <a:avLst/>
          </a:prstGeom>
          <a:solidFill>
            <a:srgbClr val="13254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pic>
        <p:nvPicPr>
          <p:cNvPr id="20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7700" y="819150"/>
            <a:ext cx="6734175" cy="3790950"/>
          </a:xfrm>
          <a:prstGeom prst="rect">
            <a:avLst/>
          </a:prstGeom>
          <a:noFill/>
        </p:spPr>
      </p:pic>
      <p:sp>
        <p:nvSpPr>
          <p:cNvPr id="21" name="" descr=""/>
          <p:cNvSpPr/>
          <p:nvPr/>
        </p:nvSpPr>
        <p:spPr>
          <a:xfrm>
            <a:off x="685800" y="5638800"/>
            <a:ext cx="2381250" cy="781050"/>
          </a:xfrm>
          <a:prstGeom prst="rect">
            <a:avLst/>
          </a:prstGeom>
          <a:solidFill>
            <a:srgbClr val="13254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2" name=""/>
          <p:cNvSpPr txBox="1"/>
          <p:nvPr/>
        </p:nvSpPr>
        <p:spPr>
          <a:xfrm>
            <a:off x="838200" y="5772150"/>
            <a:ext cx="2076450" cy="1333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000" spc="0" u="none" cap="none">
                <a:solidFill>
                  <a:srgbClr val="93C5FD">
                    <a:alpha val="100000"/>
                  </a:srgbClr>
                </a:solidFill>
                <a:latin typeface="Calibri"/>
              </a:rPr>
              <a:t><![CDATA[Budget]]></a:t>
            </a:r>
          </a:p>
        </p:txBody>
      </p:sp>
      <p:sp>
        <p:nvSpPr>
          <p:cNvPr id="23" name=""/>
          <p:cNvSpPr txBox="1"/>
          <p:nvPr/>
        </p:nvSpPr>
        <p:spPr>
          <a:xfrm>
            <a:off x="838200" y="6000750"/>
            <a:ext cx="2076450" cy="2476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7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Not specified]]></a:t>
            </a:r>
          </a:p>
        </p:txBody>
      </p:sp>
      <p:sp>
        <p:nvSpPr>
          <p:cNvPr id="24" name="" descr=""/>
          <p:cNvSpPr/>
          <p:nvPr/>
        </p:nvSpPr>
        <p:spPr>
          <a:xfrm>
            <a:off x="3276600" y="5638800"/>
            <a:ext cx="2143125" cy="781050"/>
          </a:xfrm>
          <a:prstGeom prst="rect">
            <a:avLst/>
          </a:prstGeom>
          <a:solidFill>
            <a:srgbClr val="13254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5" name=""/>
          <p:cNvSpPr txBox="1"/>
          <p:nvPr/>
        </p:nvSpPr>
        <p:spPr>
          <a:xfrm>
            <a:off x="3429000" y="5772150"/>
            <a:ext cx="1838325" cy="1333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000" spc="0" u="none" cap="none">
                <a:solidFill>
                  <a:srgbClr val="93C5FD">
                    <a:alpha val="100000"/>
                  </a:srgbClr>
                </a:solidFill>
                <a:latin typeface="Calibri"/>
              </a:rPr>
              <a:t><![CDATA[Duration]]></a:t>
            </a:r>
          </a:p>
        </p:txBody>
      </p:sp>
      <p:sp>
        <p:nvSpPr>
          <p:cNvPr id="26" name=""/>
          <p:cNvSpPr txBox="1"/>
          <p:nvPr/>
        </p:nvSpPr>
        <p:spPr>
          <a:xfrm>
            <a:off x="3429000" y="6000750"/>
            <a:ext cx="1838325" cy="2476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7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Not specified]]></a:t>
            </a:r>
          </a:p>
        </p:txBody>
      </p:sp>
      <p:sp>
        <p:nvSpPr>
          <p:cNvPr id="27" name="" descr=""/>
          <p:cNvSpPr/>
          <p:nvPr/>
        </p:nvSpPr>
        <p:spPr>
          <a:xfrm>
            <a:off x="5629275" y="5638800"/>
            <a:ext cx="2381250" cy="781050"/>
          </a:xfrm>
          <a:prstGeom prst="rect">
            <a:avLst/>
          </a:prstGeom>
          <a:solidFill>
            <a:srgbClr val="13254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8" name=""/>
          <p:cNvSpPr txBox="1"/>
          <p:nvPr/>
        </p:nvSpPr>
        <p:spPr>
          <a:xfrm>
            <a:off x="5781675" y="5772150"/>
            <a:ext cx="2076450" cy="1333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000" spc="0" u="none" cap="none">
                <a:solidFill>
                  <a:srgbClr val="93C5FD">
                    <a:alpha val="100000"/>
                  </a:srgbClr>
                </a:solidFill>
                <a:latin typeface="Calibri"/>
              </a:rPr>
              <a:t><![CDATA[Support Type]]></a:t>
            </a:r>
          </a:p>
        </p:txBody>
      </p:sp>
      <p:sp>
        <p:nvSpPr>
          <p:cNvPr id="29" name=""/>
          <p:cNvSpPr txBox="1"/>
          <p:nvPr/>
        </p:nvSpPr>
        <p:spPr>
          <a:xfrm>
            <a:off x="5781675" y="6000750"/>
            <a:ext cx="2076450" cy="2476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7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Not specified]]></a:t>
            </a:r>
          </a:p>
        </p:txBody>
      </p:sp>
      <p:sp>
        <p:nvSpPr>
          <p:cNvPr id="30" name="" descr=""/>
          <p:cNvSpPr/>
          <p:nvPr/>
        </p:nvSpPr>
        <p:spPr>
          <a:xfrm>
            <a:off x="8220075" y="5638800"/>
            <a:ext cx="3762375" cy="781050"/>
          </a:xfrm>
          <a:prstGeom prst="rect">
            <a:avLst/>
          </a:prstGeom>
          <a:solidFill>
            <a:srgbClr val="13254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1" name=""/>
          <p:cNvSpPr txBox="1"/>
          <p:nvPr/>
        </p:nvSpPr>
        <p:spPr>
          <a:xfrm>
            <a:off x="8372475" y="5772150"/>
            <a:ext cx="3457575" cy="1333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000" spc="0" u="none" cap="none">
                <a:solidFill>
                  <a:srgbClr val="93C5FD">
                    <a:alpha val="100000"/>
                  </a:srgbClr>
                </a:solidFill>
                <a:latin typeface="Calibri"/>
              </a:rPr>
              <a:t><![CDATA[Institution]]></a:t>
            </a:r>
          </a:p>
        </p:txBody>
      </p:sp>
      <p:sp>
        <p:nvSpPr>
          <p:cNvPr id="32" name=""/>
          <p:cNvSpPr txBox="1"/>
          <p:nvPr/>
        </p:nvSpPr>
        <p:spPr>
          <a:xfrm>
            <a:off x="8372475" y="6000750"/>
            <a:ext cx="3457575" cy="2476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7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Not specified]]></a:t>
            </a:r>
          </a:p>
        </p:txBody>
      </p:sp>
      <p:sp>
        <p:nvSpPr>
          <p:cNvPr id="33" name=""/>
          <p:cNvSpPr txBox="1"/>
          <p:nvPr/>
        </p:nvSpPr>
        <p:spPr>
          <a:xfrm>
            <a:off x="685800" y="6572250"/>
            <a:ext cx="10763250" cy="1333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000" spc="0" u="none" cap="none">
                <a:solidFill>
                  <a:srgbClr val="CBD5E1">
                    <a:alpha val="100000"/>
                  </a:srgbClr>
                </a:solidFill>
                <a:latin typeface="Calibri"/>
              </a:rPr>
              <a:t><![CDATA[Prepared for investor review and opportunity screening.]]>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" descr="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22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6101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/>
          <p:cNvSpPr txBox="1"/>
          <p:nvPr/>
        </p:nvSpPr>
        <p:spPr>
          <a:xfrm>
            <a:off x="666750" y="171450"/>
            <a:ext cx="7239000" cy="2667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Executive Overview]]></a:t>
            </a:r>
          </a:p>
        </p:txBody>
      </p:sp>
      <p:sp>
        <p:nvSpPr>
          <p:cNvPr id="5" name=""/>
          <p:cNvSpPr txBox="1"/>
          <p:nvPr/>
        </p:nvSpPr>
        <p:spPr>
          <a:xfrm>
            <a:off x="666750" y="895350"/>
            <a:ext cx="8191500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300" spc="0" u="none" cap="none">
                <a:solidFill>
                  <a:srgbClr val="94A3B8">
                    <a:alpha val="100000"/>
                  </a:srgbClr>
                </a:solidFill>
                <a:latin typeface="Calibri"/>
              </a:rPr>
              <a:t><![CDATA[A concise view of the project, its context, and its intended value.]]></a:t>
            </a:r>
          </a:p>
        </p:txBody>
      </p:sp>
      <p:sp>
        <p:nvSpPr>
          <p:cNvPr id="6" name="" descr=""/>
          <p:cNvSpPr/>
          <p:nvPr/>
        </p:nvSpPr>
        <p:spPr>
          <a:xfrm>
            <a:off x="666750" y="1123950"/>
            <a:ext cx="1428750" cy="47625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666750" y="1314450"/>
            <a:ext cx="6953250" cy="2095500"/>
          </a:xfrm>
          <a:prstGeom prst="rect">
            <a:avLst/>
          </a:prstGeom>
          <a:solidFill>
            <a:srgbClr val="0F1D3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 descr=""/>
          <p:cNvSpPr/>
          <p:nvPr/>
        </p:nvSpPr>
        <p:spPr>
          <a:xfrm>
            <a:off x="666750" y="1314450"/>
            <a:ext cx="76200" cy="209550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9" name=""/>
          <p:cNvSpPr txBox="1"/>
          <p:nvPr/>
        </p:nvSpPr>
        <p:spPr>
          <a:xfrm>
            <a:off x="914400" y="1485900"/>
            <a:ext cx="6457950" cy="2286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Project Summary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914400" y="1866900"/>
            <a:ext cx="6457950" cy="13144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700" spc="0" u="none" cap="none">
                <a:solidFill>
                  <a:srgbClr val="E5E7EB">
                    <a:alpha val="100000"/>
                  </a:srgbClr>
                </a:solidFill>
                <a:latin typeface="Calibri"/>
              </a:rPr>
              <a:t><![CDATA[No summary provided.]]></a:t>
            </a:r>
          </a:p>
        </p:txBody>
      </p:sp>
      <p:sp>
        <p:nvSpPr>
          <p:cNvPr id="11" name="" descr=""/>
          <p:cNvSpPr/>
          <p:nvPr/>
        </p:nvSpPr>
        <p:spPr>
          <a:xfrm>
            <a:off x="7905750" y="1390650"/>
            <a:ext cx="3429000" cy="590550"/>
          </a:xfrm>
          <a:prstGeom prst="rect">
            <a:avLst/>
          </a:prstGeom>
          <a:solidFill>
            <a:srgbClr val="102345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2" name=""/>
          <p:cNvSpPr txBox="1"/>
          <p:nvPr/>
        </p:nvSpPr>
        <p:spPr>
          <a:xfrm>
            <a:off x="8077200" y="1504950"/>
            <a:ext cx="3086100" cy="1143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000" spc="0" u="none" cap="none">
                <a:solidFill>
                  <a:srgbClr val="93C5FD">
                    <a:alpha val="100000"/>
                  </a:srgbClr>
                </a:solidFill>
                <a:latin typeface="Calibri"/>
              </a:rPr>
              <a:t><![CDATA[Funding Needed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8077200" y="1676400"/>
            <a:ext cx="3086100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5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Not specified]]></a:t>
            </a:r>
          </a:p>
        </p:txBody>
      </p:sp>
      <p:sp>
        <p:nvSpPr>
          <p:cNvPr id="14" name="" descr=""/>
          <p:cNvSpPr/>
          <p:nvPr/>
        </p:nvSpPr>
        <p:spPr>
          <a:xfrm>
            <a:off x="7905750" y="2114550"/>
            <a:ext cx="3429000" cy="590550"/>
          </a:xfrm>
          <a:prstGeom prst="rect">
            <a:avLst/>
          </a:prstGeom>
          <a:solidFill>
            <a:srgbClr val="102A20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5" name=""/>
          <p:cNvSpPr txBox="1"/>
          <p:nvPr/>
        </p:nvSpPr>
        <p:spPr>
          <a:xfrm>
            <a:off x="8077200" y="2228850"/>
            <a:ext cx="3086100" cy="1143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000" spc="0" u="none" cap="none">
                <a:solidFill>
                  <a:srgbClr val="86EFAC">
                    <a:alpha val="100000"/>
                  </a:srgbClr>
                </a:solidFill>
                <a:latin typeface="Calibri"/>
              </a:rPr>
              <a:t><![CDATA[Scanner Status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8077200" y="2400300"/>
            <a:ext cx="3086100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5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Not available]]></a:t>
            </a:r>
          </a:p>
        </p:txBody>
      </p:sp>
      <p:sp>
        <p:nvSpPr>
          <p:cNvPr id="17" name="" descr=""/>
          <p:cNvSpPr/>
          <p:nvPr/>
        </p:nvSpPr>
        <p:spPr>
          <a:xfrm>
            <a:off x="7905750" y="2838450"/>
            <a:ext cx="3429000" cy="590550"/>
          </a:xfrm>
          <a:prstGeom prst="rect">
            <a:avLst/>
          </a:prstGeom>
          <a:solidFill>
            <a:srgbClr val="23173D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8" name=""/>
          <p:cNvSpPr txBox="1"/>
          <p:nvPr/>
        </p:nvSpPr>
        <p:spPr>
          <a:xfrm>
            <a:off x="8077200" y="2952750"/>
            <a:ext cx="3086100" cy="1143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000" spc="0" u="none" cap="none">
                <a:solidFill>
                  <a:srgbClr val="D8B4FE">
                    <a:alpha val="100000"/>
                  </a:srgbClr>
                </a:solidFill>
                <a:latin typeface="Calibri"/>
              </a:rPr>
              <a:t><![CDATA[Department]]></a:t>
            </a:r>
          </a:p>
        </p:txBody>
      </p:sp>
      <p:sp>
        <p:nvSpPr>
          <p:cNvPr id="19" name=""/>
          <p:cNvSpPr txBox="1"/>
          <p:nvPr/>
        </p:nvSpPr>
        <p:spPr>
          <a:xfrm>
            <a:off x="8077200" y="3124200"/>
            <a:ext cx="3086100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5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Not specified]]></a:t>
            </a:r>
          </a:p>
        </p:txBody>
      </p:sp>
      <p:sp>
        <p:nvSpPr>
          <p:cNvPr id="20" name="" descr=""/>
          <p:cNvSpPr/>
          <p:nvPr/>
        </p:nvSpPr>
        <p:spPr>
          <a:xfrm>
            <a:off x="666750" y="3771900"/>
            <a:ext cx="3429000" cy="2000250"/>
          </a:xfrm>
          <a:prstGeom prst="rect">
            <a:avLst/>
          </a:prstGeom>
          <a:solidFill>
            <a:srgbClr val="0F1D3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1" name="" descr=""/>
          <p:cNvSpPr/>
          <p:nvPr/>
        </p:nvSpPr>
        <p:spPr>
          <a:xfrm>
            <a:off x="666750" y="3771900"/>
            <a:ext cx="3429000" cy="66675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2" name=""/>
          <p:cNvSpPr txBox="1"/>
          <p:nvPr/>
        </p:nvSpPr>
        <p:spPr>
          <a:xfrm>
            <a:off x="895350" y="4038600"/>
            <a:ext cx="2971800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600" spc="0" u="none" cap="none">
                <a:solidFill>
                  <a:srgbClr val="E5E7EB">
                    <a:alpha val="100000"/>
                  </a:srgbClr>
                </a:solidFill>
                <a:latin typeface="Calibri"/>
              </a:rPr>
              <a:t><![CDATA[Project Nature]]></a:t>
            </a:r>
          </a:p>
        </p:txBody>
      </p:sp>
      <p:sp>
        <p:nvSpPr>
          <p:cNvPr id="23" name="" descr=""/>
          <p:cNvSpPr/>
          <p:nvPr/>
        </p:nvSpPr>
        <p:spPr>
          <a:xfrm>
            <a:off x="895350" y="4324350"/>
            <a:ext cx="704850" cy="28575"/>
          </a:xfrm>
          <a:prstGeom prst="rect">
            <a:avLst/>
          </a:prstGeom>
          <a:solidFill>
            <a:srgbClr val="60A5F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4" name=""/>
          <p:cNvSpPr txBox="1"/>
          <p:nvPr/>
        </p:nvSpPr>
        <p:spPr>
          <a:xfrm>
            <a:off x="895350" y="4591050"/>
            <a:ext cx="2971800" cy="9715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8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Not specified]]></a:t>
            </a:r>
          </a:p>
        </p:txBody>
      </p:sp>
      <p:sp>
        <p:nvSpPr>
          <p:cNvPr id="25" name="" descr=""/>
          <p:cNvSpPr/>
          <p:nvPr/>
        </p:nvSpPr>
        <p:spPr>
          <a:xfrm>
            <a:off x="4381500" y="3771900"/>
            <a:ext cx="3429000" cy="2000250"/>
          </a:xfrm>
          <a:prstGeom prst="rect">
            <a:avLst/>
          </a:prstGeom>
          <a:solidFill>
            <a:srgbClr val="0F1D3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6" name="" descr=""/>
          <p:cNvSpPr/>
          <p:nvPr/>
        </p:nvSpPr>
        <p:spPr>
          <a:xfrm>
            <a:off x="4381500" y="3771900"/>
            <a:ext cx="3429000" cy="66675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7" name=""/>
          <p:cNvSpPr txBox="1"/>
          <p:nvPr/>
        </p:nvSpPr>
        <p:spPr>
          <a:xfrm>
            <a:off x="4610100" y="4038600"/>
            <a:ext cx="2971800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600" spc="0" u="none" cap="none">
                <a:solidFill>
                  <a:srgbClr val="E5E7EB">
                    <a:alpha val="100000"/>
                  </a:srgbClr>
                </a:solidFill>
                <a:latin typeface="Calibri"/>
              </a:rPr>
              <a:t><![CDATA[Project Type]]></a:t>
            </a:r>
          </a:p>
        </p:txBody>
      </p:sp>
      <p:sp>
        <p:nvSpPr>
          <p:cNvPr id="28" name="" descr=""/>
          <p:cNvSpPr/>
          <p:nvPr/>
        </p:nvSpPr>
        <p:spPr>
          <a:xfrm>
            <a:off x="4610100" y="4324350"/>
            <a:ext cx="704850" cy="28575"/>
          </a:xfrm>
          <a:prstGeom prst="rect">
            <a:avLst/>
          </a:prstGeom>
          <a:solidFill>
            <a:srgbClr val="60A5F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9" name=""/>
          <p:cNvSpPr txBox="1"/>
          <p:nvPr/>
        </p:nvSpPr>
        <p:spPr>
          <a:xfrm>
            <a:off x="4610100" y="4591050"/>
            <a:ext cx="2971800" cy="9715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8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Not specified]]></a:t>
            </a:r>
          </a:p>
        </p:txBody>
      </p:sp>
      <p:sp>
        <p:nvSpPr>
          <p:cNvPr id="30" name="" descr=""/>
          <p:cNvSpPr/>
          <p:nvPr/>
        </p:nvSpPr>
        <p:spPr>
          <a:xfrm>
            <a:off x="8096250" y="3771900"/>
            <a:ext cx="3238500" cy="2000250"/>
          </a:xfrm>
          <a:prstGeom prst="rect">
            <a:avLst/>
          </a:prstGeom>
          <a:solidFill>
            <a:srgbClr val="0F1D3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1" name="" descr=""/>
          <p:cNvSpPr/>
          <p:nvPr/>
        </p:nvSpPr>
        <p:spPr>
          <a:xfrm>
            <a:off x="8096250" y="3771900"/>
            <a:ext cx="3238500" cy="66675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2" name=""/>
          <p:cNvSpPr txBox="1"/>
          <p:nvPr/>
        </p:nvSpPr>
        <p:spPr>
          <a:xfrm>
            <a:off x="8324850" y="4038600"/>
            <a:ext cx="2781300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600" spc="0" u="none" cap="none">
                <a:solidFill>
                  <a:srgbClr val="E5E7EB">
                    <a:alpha val="100000"/>
                  </a:srgbClr>
                </a:solidFill>
                <a:latin typeface="Calibri"/>
              </a:rPr>
              <a:t><![CDATA[Target Beneficiaries]]></a:t>
            </a:r>
          </a:p>
        </p:txBody>
      </p:sp>
      <p:sp>
        <p:nvSpPr>
          <p:cNvPr id="33" name="" descr=""/>
          <p:cNvSpPr/>
          <p:nvPr/>
        </p:nvSpPr>
        <p:spPr>
          <a:xfrm>
            <a:off x="8324850" y="4324350"/>
            <a:ext cx="704850" cy="28575"/>
          </a:xfrm>
          <a:prstGeom prst="rect">
            <a:avLst/>
          </a:prstGeom>
          <a:solidFill>
            <a:srgbClr val="60A5F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4" name=""/>
          <p:cNvSpPr txBox="1"/>
          <p:nvPr/>
        </p:nvSpPr>
        <p:spPr>
          <a:xfrm>
            <a:off x="8324850" y="4591050"/>
            <a:ext cx="2781300" cy="9715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8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Not specified]]>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" descr="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22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6101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/>
          <p:cNvSpPr txBox="1"/>
          <p:nvPr/>
        </p:nvSpPr>
        <p:spPr>
          <a:xfrm>
            <a:off x="666750" y="171450"/>
            <a:ext cx="7239000" cy="2667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Problem & Impact]]></a:t>
            </a:r>
          </a:p>
        </p:txBody>
      </p:sp>
      <p:sp>
        <p:nvSpPr>
          <p:cNvPr id="5" name=""/>
          <p:cNvSpPr txBox="1"/>
          <p:nvPr/>
        </p:nvSpPr>
        <p:spPr>
          <a:xfrm>
            <a:off x="666750" y="895350"/>
            <a:ext cx="8191500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300" spc="0" u="none" cap="none">
                <a:solidFill>
                  <a:srgbClr val="94A3B8">
                    <a:alpha val="100000"/>
                  </a:srgbClr>
                </a:solidFill>
                <a:latin typeface="Calibri"/>
              </a:rPr>
              <a:t><![CDATA[Why this project matters and what value it aims to create.]]></a:t>
            </a:r>
          </a:p>
        </p:txBody>
      </p:sp>
      <p:sp>
        <p:nvSpPr>
          <p:cNvPr id="6" name="" descr=""/>
          <p:cNvSpPr/>
          <p:nvPr/>
        </p:nvSpPr>
        <p:spPr>
          <a:xfrm>
            <a:off x="666750" y="1123950"/>
            <a:ext cx="1428750" cy="47625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666750" y="1352550"/>
            <a:ext cx="5238750" cy="2247900"/>
          </a:xfrm>
          <a:prstGeom prst="rect">
            <a:avLst/>
          </a:prstGeom>
          <a:solidFill>
            <a:srgbClr val="0F1D3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 descr=""/>
          <p:cNvSpPr/>
          <p:nvPr/>
        </p:nvSpPr>
        <p:spPr>
          <a:xfrm>
            <a:off x="666750" y="1352550"/>
            <a:ext cx="76200" cy="224790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9" name=""/>
          <p:cNvSpPr txBox="1"/>
          <p:nvPr/>
        </p:nvSpPr>
        <p:spPr>
          <a:xfrm>
            <a:off x="914400" y="1524000"/>
            <a:ext cx="4743450" cy="2286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Problem Statement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914400" y="1905000"/>
            <a:ext cx="4743450" cy="1466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700" spc="0" u="none" cap="none">
                <a:solidFill>
                  <a:srgbClr val="E5E7EB">
                    <a:alpha val="100000"/>
                  </a:srgbClr>
                </a:solidFill>
                <a:latin typeface="Calibri"/>
              </a:rPr>
              <a:t><![CDATA[Problem statement not provided.]]></a:t>
            </a:r>
          </a:p>
        </p:txBody>
      </p:sp>
      <p:sp>
        <p:nvSpPr>
          <p:cNvPr id="11" name="" descr=""/>
          <p:cNvSpPr/>
          <p:nvPr/>
        </p:nvSpPr>
        <p:spPr>
          <a:xfrm>
            <a:off x="6286500" y="1352550"/>
            <a:ext cx="5238750" cy="2247900"/>
          </a:xfrm>
          <a:prstGeom prst="rect">
            <a:avLst/>
          </a:prstGeom>
          <a:solidFill>
            <a:srgbClr val="0F1D3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2" name="" descr=""/>
          <p:cNvSpPr/>
          <p:nvPr/>
        </p:nvSpPr>
        <p:spPr>
          <a:xfrm>
            <a:off x="6286500" y="1352550"/>
            <a:ext cx="76200" cy="224790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3" name=""/>
          <p:cNvSpPr txBox="1"/>
          <p:nvPr/>
        </p:nvSpPr>
        <p:spPr>
          <a:xfrm>
            <a:off x="6534150" y="1524000"/>
            <a:ext cx="4743450" cy="2286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Expected Impact]]></a:t>
            </a:r>
          </a:p>
        </p:txBody>
      </p:sp>
      <p:sp>
        <p:nvSpPr>
          <p:cNvPr id="14" name=""/>
          <p:cNvSpPr txBox="1"/>
          <p:nvPr/>
        </p:nvSpPr>
        <p:spPr>
          <a:xfrm>
            <a:off x="6534150" y="1905000"/>
            <a:ext cx="4743450" cy="1466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700" spc="0" u="none" cap="none">
                <a:solidFill>
                  <a:srgbClr val="E5E7EB">
                    <a:alpha val="100000"/>
                  </a:srgbClr>
                </a:solidFill>
                <a:latin typeface="Calibri"/>
              </a:rPr>
              <a:t><![CDATA[Expected impact not provided.]]></a:t>
            </a:r>
          </a:p>
        </p:txBody>
      </p:sp>
      <p:sp>
        <p:nvSpPr>
          <p:cNvPr id="15" name="" descr=""/>
          <p:cNvSpPr/>
          <p:nvPr/>
        </p:nvSpPr>
        <p:spPr>
          <a:xfrm>
            <a:off x="666750" y="3905250"/>
            <a:ext cx="10858500" cy="2038350"/>
          </a:xfrm>
          <a:prstGeom prst="rect">
            <a:avLst/>
          </a:prstGeom>
          <a:solidFill>
            <a:srgbClr val="0F1D3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6" name="" descr=""/>
          <p:cNvSpPr/>
          <p:nvPr/>
        </p:nvSpPr>
        <p:spPr>
          <a:xfrm>
            <a:off x="666750" y="3905250"/>
            <a:ext cx="10858500" cy="7620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7" name=""/>
          <p:cNvSpPr txBox="1"/>
          <p:nvPr/>
        </p:nvSpPr>
        <p:spPr>
          <a:xfrm>
            <a:off x="914400" y="4210050"/>
            <a:ext cx="2857500" cy="2286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Community Benefit]]></a:t>
            </a:r>
          </a:p>
        </p:txBody>
      </p:sp>
      <p:sp>
        <p:nvSpPr>
          <p:cNvPr id="18" name=""/>
          <p:cNvSpPr txBox="1"/>
          <p:nvPr/>
        </p:nvSpPr>
        <p:spPr>
          <a:xfrm>
            <a:off x="914400" y="4591050"/>
            <a:ext cx="4762500" cy="952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700" spc="0" u="none" cap="none">
                <a:solidFill>
                  <a:srgbClr val="E5E7EB">
                    <a:alpha val="100000"/>
                  </a:srgbClr>
                </a:solidFill>
                <a:latin typeface="Calibri"/>
              </a:rPr>
              <a:t><![CDATA[Community benefit not provided.]]></a:t>
            </a:r>
          </a:p>
        </p:txBody>
      </p:sp>
      <p:sp>
        <p:nvSpPr>
          <p:cNvPr id="19" name="" descr=""/>
          <p:cNvSpPr/>
          <p:nvPr/>
        </p:nvSpPr>
        <p:spPr>
          <a:xfrm>
            <a:off x="6286500" y="4324350"/>
            <a:ext cx="1571625" cy="933450"/>
          </a:xfrm>
          <a:prstGeom prst="rect">
            <a:avLst/>
          </a:prstGeom>
          <a:solidFill>
            <a:srgbClr val="13254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0" name=""/>
          <p:cNvSpPr txBox="1"/>
          <p:nvPr/>
        </p:nvSpPr>
        <p:spPr>
          <a:xfrm>
            <a:off x="6419850" y="4457700"/>
            <a:ext cx="1304925" cy="1143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000" spc="0" u="none" cap="none">
                <a:solidFill>
                  <a:srgbClr val="93C5FD">
                    <a:alpha val="100000"/>
                  </a:srgbClr>
                </a:solidFill>
                <a:latin typeface="Calibri"/>
              </a:rPr>
              <a:t><![CDATA[Category]]></a:t>
            </a:r>
          </a:p>
        </p:txBody>
      </p:sp>
      <p:sp>
        <p:nvSpPr>
          <p:cNvPr id="21" name=""/>
          <p:cNvSpPr txBox="1"/>
          <p:nvPr/>
        </p:nvSpPr>
        <p:spPr>
          <a:xfrm>
            <a:off x="6419850" y="4705350"/>
            <a:ext cx="1304925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energy]]></a:t>
            </a:r>
          </a:p>
        </p:txBody>
      </p:sp>
      <p:sp>
        <p:nvSpPr>
          <p:cNvPr id="22" name="" descr=""/>
          <p:cNvSpPr/>
          <p:nvPr/>
        </p:nvSpPr>
        <p:spPr>
          <a:xfrm>
            <a:off x="8048625" y="4324350"/>
            <a:ext cx="1571625" cy="933450"/>
          </a:xfrm>
          <a:prstGeom prst="rect">
            <a:avLst/>
          </a:prstGeom>
          <a:solidFill>
            <a:srgbClr val="13254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3" name=""/>
          <p:cNvSpPr txBox="1"/>
          <p:nvPr/>
        </p:nvSpPr>
        <p:spPr>
          <a:xfrm>
            <a:off x="8181975" y="4457700"/>
            <a:ext cx="1304925" cy="1143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000" spc="0" u="none" cap="none">
                <a:solidFill>
                  <a:srgbClr val="93C5FD">
                    <a:alpha val="100000"/>
                  </a:srgbClr>
                </a:solidFill>
                <a:latin typeface="Calibri"/>
              </a:rPr>
              <a:t><![CDATA[Beneficiaries]]></a:t>
            </a:r>
          </a:p>
        </p:txBody>
      </p:sp>
      <p:sp>
        <p:nvSpPr>
          <p:cNvPr id="24" name=""/>
          <p:cNvSpPr txBox="1"/>
          <p:nvPr/>
        </p:nvSpPr>
        <p:spPr>
          <a:xfrm>
            <a:off x="8181975" y="4705350"/>
            <a:ext cx="1304925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Not specified]]></a:t>
            </a:r>
          </a:p>
        </p:txBody>
      </p:sp>
      <p:sp>
        <p:nvSpPr>
          <p:cNvPr id="25" name="" descr=""/>
          <p:cNvSpPr/>
          <p:nvPr/>
        </p:nvSpPr>
        <p:spPr>
          <a:xfrm>
            <a:off x="9810750" y="4324350"/>
            <a:ext cx="1428750" cy="933450"/>
          </a:xfrm>
          <a:prstGeom prst="rect">
            <a:avLst/>
          </a:prstGeom>
          <a:solidFill>
            <a:srgbClr val="13254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6" name=""/>
          <p:cNvSpPr txBox="1"/>
          <p:nvPr/>
        </p:nvSpPr>
        <p:spPr>
          <a:xfrm>
            <a:off x="9944100" y="4457700"/>
            <a:ext cx="1162050" cy="1143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000" spc="0" u="none" cap="none">
                <a:solidFill>
                  <a:srgbClr val="93C5FD">
                    <a:alpha val="100000"/>
                  </a:srgbClr>
                </a:solidFill>
                <a:latin typeface="Calibri"/>
              </a:rPr>
              <a:t><![CDATA[Region]]></a:t>
            </a:r>
          </a:p>
        </p:txBody>
      </p:sp>
      <p:sp>
        <p:nvSpPr>
          <p:cNvPr id="27" name=""/>
          <p:cNvSpPr txBox="1"/>
          <p:nvPr/>
        </p:nvSpPr>
        <p:spPr>
          <a:xfrm>
            <a:off x="9944100" y="4705350"/>
            <a:ext cx="1162050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Not specified]]>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" descr="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22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6101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/>
          <p:cNvSpPr txBox="1"/>
          <p:nvPr/>
        </p:nvSpPr>
        <p:spPr>
          <a:xfrm>
            <a:off x="666750" y="171450"/>
            <a:ext cx="7239000" cy="2667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Funding Overview]]></a:t>
            </a:r>
          </a:p>
        </p:txBody>
      </p:sp>
      <p:sp>
        <p:nvSpPr>
          <p:cNvPr id="5" name=""/>
          <p:cNvSpPr txBox="1"/>
          <p:nvPr/>
        </p:nvSpPr>
        <p:spPr>
          <a:xfrm>
            <a:off x="666750" y="895350"/>
            <a:ext cx="8191500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300" spc="0" u="none" cap="none">
                <a:solidFill>
                  <a:srgbClr val="94A3B8">
                    <a:alpha val="100000"/>
                  </a:srgbClr>
                </a:solidFill>
                <a:latin typeface="Calibri"/>
              </a:rPr>
              <a:t><![CDATA[Capital need, timeline, and requested support structure.]]></a:t>
            </a:r>
          </a:p>
        </p:txBody>
      </p:sp>
      <p:sp>
        <p:nvSpPr>
          <p:cNvPr id="6" name="" descr=""/>
          <p:cNvSpPr/>
          <p:nvPr/>
        </p:nvSpPr>
        <p:spPr>
          <a:xfrm>
            <a:off x="666750" y="1123950"/>
            <a:ext cx="1428750" cy="47625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666750" y="1333500"/>
            <a:ext cx="2524125" cy="1028700"/>
          </a:xfrm>
          <a:prstGeom prst="rect">
            <a:avLst/>
          </a:prstGeom>
          <a:solidFill>
            <a:srgbClr val="102A20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/>
          <p:cNvSpPr txBox="1"/>
          <p:nvPr/>
        </p:nvSpPr>
        <p:spPr>
          <a:xfrm>
            <a:off x="819150" y="1466850"/>
            <a:ext cx="2219325" cy="1333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86EFAC">
                    <a:alpha val="100000"/>
                  </a:srgbClr>
                </a:solidFill>
                <a:latin typeface="Calibri"/>
              </a:rPr>
              <a:t><![CDATA[Budget]]></a:t>
            </a:r>
          </a:p>
        </p:txBody>
      </p:sp>
      <p:sp>
        <p:nvSpPr>
          <p:cNvPr id="9" name=""/>
          <p:cNvSpPr txBox="1"/>
          <p:nvPr/>
        </p:nvSpPr>
        <p:spPr>
          <a:xfrm>
            <a:off x="819150" y="1752600"/>
            <a:ext cx="2219325" cy="2667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9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Not specified]]></a:t>
            </a:r>
          </a:p>
        </p:txBody>
      </p:sp>
      <p:sp>
        <p:nvSpPr>
          <p:cNvPr id="10" name="" descr=""/>
          <p:cNvSpPr/>
          <p:nvPr/>
        </p:nvSpPr>
        <p:spPr>
          <a:xfrm>
            <a:off x="3381375" y="1333500"/>
            <a:ext cx="2381250" cy="1028700"/>
          </a:xfrm>
          <a:prstGeom prst="rect">
            <a:avLst/>
          </a:prstGeom>
          <a:solidFill>
            <a:srgbClr val="102345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1" name=""/>
          <p:cNvSpPr txBox="1"/>
          <p:nvPr/>
        </p:nvSpPr>
        <p:spPr>
          <a:xfrm>
            <a:off x="3533775" y="1466850"/>
            <a:ext cx="2076450" cy="1333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93C5FD">
                    <a:alpha val="100000"/>
                  </a:srgbClr>
                </a:solidFill>
                <a:latin typeface="Calibri"/>
              </a:rPr>
              <a:t><![CDATA[Duration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3533775" y="1752600"/>
            <a:ext cx="2076450" cy="2667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9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Not specified]]></a:t>
            </a:r>
          </a:p>
        </p:txBody>
      </p:sp>
      <p:sp>
        <p:nvSpPr>
          <p:cNvPr id="13" name="" descr=""/>
          <p:cNvSpPr/>
          <p:nvPr/>
        </p:nvSpPr>
        <p:spPr>
          <a:xfrm>
            <a:off x="5953125" y="1333500"/>
            <a:ext cx="2667000" cy="1028700"/>
          </a:xfrm>
          <a:prstGeom prst="rect">
            <a:avLst/>
          </a:prstGeom>
          <a:solidFill>
            <a:srgbClr val="311A0C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4" name=""/>
          <p:cNvSpPr txBox="1"/>
          <p:nvPr/>
        </p:nvSpPr>
        <p:spPr>
          <a:xfrm>
            <a:off x="6105525" y="1466850"/>
            <a:ext cx="2362200" cy="1333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FDBA74">
                    <a:alpha val="100000"/>
                  </a:srgbClr>
                </a:solidFill>
                <a:latin typeface="Calibri"/>
              </a:rPr>
              <a:t><![CDATA[Needs Funding]]></a:t>
            </a:r>
          </a:p>
        </p:txBody>
      </p:sp>
      <p:sp>
        <p:nvSpPr>
          <p:cNvPr id="15" name=""/>
          <p:cNvSpPr txBox="1"/>
          <p:nvPr/>
        </p:nvSpPr>
        <p:spPr>
          <a:xfrm>
            <a:off x="6105525" y="1752600"/>
            <a:ext cx="2362200" cy="2667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9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Not specified]]></a:t>
            </a:r>
          </a:p>
        </p:txBody>
      </p:sp>
      <p:sp>
        <p:nvSpPr>
          <p:cNvPr id="16" name="" descr=""/>
          <p:cNvSpPr/>
          <p:nvPr/>
        </p:nvSpPr>
        <p:spPr>
          <a:xfrm>
            <a:off x="8810625" y="1333500"/>
            <a:ext cx="2714625" cy="1028700"/>
          </a:xfrm>
          <a:prstGeom prst="rect">
            <a:avLst/>
          </a:prstGeom>
          <a:solidFill>
            <a:srgbClr val="23173D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7" name=""/>
          <p:cNvSpPr txBox="1"/>
          <p:nvPr/>
        </p:nvSpPr>
        <p:spPr>
          <a:xfrm>
            <a:off x="8963025" y="1466850"/>
            <a:ext cx="2409825" cy="1333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D8B4FE">
                    <a:alpha val="100000"/>
                  </a:srgbClr>
                </a:solidFill>
                <a:latin typeface="Calibri"/>
              </a:rPr>
              <a:t><![CDATA[Support Type]]></a:t>
            </a:r>
          </a:p>
        </p:txBody>
      </p:sp>
      <p:sp>
        <p:nvSpPr>
          <p:cNvPr id="18" name=""/>
          <p:cNvSpPr txBox="1"/>
          <p:nvPr/>
        </p:nvSpPr>
        <p:spPr>
          <a:xfrm>
            <a:off x="8963025" y="1752600"/>
            <a:ext cx="2409825" cy="2667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9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Not specified]]></a:t>
            </a:r>
          </a:p>
        </p:txBody>
      </p:sp>
      <p:sp>
        <p:nvSpPr>
          <p:cNvPr id="19" name="" descr=""/>
          <p:cNvSpPr/>
          <p:nvPr/>
        </p:nvSpPr>
        <p:spPr>
          <a:xfrm>
            <a:off x="666750" y="2714625"/>
            <a:ext cx="6858000" cy="3000375"/>
          </a:xfrm>
          <a:prstGeom prst="rect">
            <a:avLst/>
          </a:prstGeom>
          <a:solidFill>
            <a:srgbClr val="0F1D3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0" name="" descr=""/>
          <p:cNvSpPr/>
          <p:nvPr/>
        </p:nvSpPr>
        <p:spPr>
          <a:xfrm>
            <a:off x="666750" y="2714625"/>
            <a:ext cx="76200" cy="3000375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1" name=""/>
          <p:cNvSpPr txBox="1"/>
          <p:nvPr/>
        </p:nvSpPr>
        <p:spPr>
          <a:xfrm>
            <a:off x="914400" y="2886075"/>
            <a:ext cx="6362700" cy="2286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Budget Breakdown]]></a:t>
            </a:r>
          </a:p>
        </p:txBody>
      </p:sp>
      <p:sp>
        <p:nvSpPr>
          <p:cNvPr id="22" name=""/>
          <p:cNvSpPr txBox="1"/>
          <p:nvPr/>
        </p:nvSpPr>
        <p:spPr>
          <a:xfrm>
            <a:off x="914400" y="3267075"/>
            <a:ext cx="6362700" cy="2219325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700" spc="0" u="none" cap="none">
                <a:solidFill>
                  <a:srgbClr val="E5E7EB">
                    <a:alpha val="100000"/>
                  </a:srgbClr>
                </a:solidFill>
                <a:latin typeface="Calibri"/>
              </a:rPr>
              <a:t><![CDATA[Budget breakdown not provided.]]></a:t>
            </a:r>
          </a:p>
        </p:txBody>
      </p:sp>
      <p:sp>
        <p:nvSpPr>
          <p:cNvPr id="23" name="" descr=""/>
          <p:cNvSpPr/>
          <p:nvPr/>
        </p:nvSpPr>
        <p:spPr>
          <a:xfrm>
            <a:off x="7810500" y="2714625"/>
            <a:ext cx="3714750" cy="3000375"/>
          </a:xfrm>
          <a:prstGeom prst="rect">
            <a:avLst/>
          </a:prstGeom>
          <a:solidFill>
            <a:srgbClr val="081B3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4" name="" descr=""/>
          <p:cNvSpPr/>
          <p:nvPr/>
        </p:nvSpPr>
        <p:spPr>
          <a:xfrm>
            <a:off x="7810500" y="2714625"/>
            <a:ext cx="3714750" cy="76200"/>
          </a:xfrm>
          <a:prstGeom prst="rect">
            <a:avLst/>
          </a:prstGeom>
          <a:solidFill>
            <a:srgbClr val="16A34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5" name=""/>
          <p:cNvSpPr txBox="1"/>
          <p:nvPr/>
        </p:nvSpPr>
        <p:spPr>
          <a:xfrm>
            <a:off x="8096250" y="3028950"/>
            <a:ext cx="2667000" cy="2095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Funding Position]]></a:t>
            </a:r>
          </a:p>
        </p:txBody>
      </p:sp>
      <p:sp>
        <p:nvSpPr>
          <p:cNvPr id="26" name=""/>
          <p:cNvSpPr txBox="1"/>
          <p:nvPr/>
        </p:nvSpPr>
        <p:spPr>
          <a:xfrm>
            <a:off x="8096250" y="3390900"/>
            <a:ext cx="2857500" cy="5334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3100" spc="0" u="none" cap="none">
                <a:solidFill>
                  <a:srgbClr val="BBF7D0">
                    <a:alpha val="100000"/>
                  </a:srgbClr>
                </a:solidFill>
                <a:latin typeface="Calibri"/>
              </a:rPr>
              <a:t><![CDATA[Not specified]]></a:t>
            </a:r>
          </a:p>
        </p:txBody>
      </p:sp>
      <p:sp>
        <p:nvSpPr>
          <p:cNvPr id="27" name=""/>
          <p:cNvSpPr txBox="1"/>
          <p:nvPr/>
        </p:nvSpPr>
        <p:spPr>
          <a:xfrm>
            <a:off x="8096250" y="4000500"/>
            <a:ext cx="2762250" cy="1714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100" spc="0" u="none" cap="none">
                <a:solidFill>
                  <a:srgbClr val="94A3B8">
                    <a:alpha val="100000"/>
                  </a:srgbClr>
                </a:solidFill>
                <a:latin typeface="Calibri"/>
              </a:rPr>
              <a:t><![CDATA[Target capital requirement]]></a:t>
            </a:r>
          </a:p>
        </p:txBody>
      </p:sp>
      <p:sp>
        <p:nvSpPr>
          <p:cNvPr id="28" name="" descr=""/>
          <p:cNvSpPr/>
          <p:nvPr/>
        </p:nvSpPr>
        <p:spPr>
          <a:xfrm>
            <a:off x="8096250" y="4362450"/>
            <a:ext cx="3143250" cy="9525"/>
          </a:xfrm>
          <a:prstGeom prst="rect">
            <a:avLst/>
          </a:prstGeom>
          <a:solidFill>
            <a:srgbClr val="334155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9" name=""/>
          <p:cNvSpPr txBox="1"/>
          <p:nvPr/>
        </p:nvSpPr>
        <p:spPr>
          <a:xfrm>
            <a:off x="8096250" y="4591050"/>
            <a:ext cx="1524000" cy="1524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93C5FD">
                    <a:alpha val="100000"/>
                  </a:srgbClr>
                </a:solidFill>
                <a:latin typeface="Calibri"/>
              </a:rPr>
              <a:t><![CDATA[Funding Needed]]></a:t>
            </a:r>
          </a:p>
        </p:txBody>
      </p:sp>
      <p:sp>
        <p:nvSpPr>
          <p:cNvPr id="30" name=""/>
          <p:cNvSpPr txBox="1"/>
          <p:nvPr/>
        </p:nvSpPr>
        <p:spPr>
          <a:xfrm>
            <a:off x="8096250" y="4781550"/>
            <a:ext cx="2857500" cy="2286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Not specified]]></a:t>
            </a:r>
          </a:p>
        </p:txBody>
      </p:sp>
      <p:sp>
        <p:nvSpPr>
          <p:cNvPr id="31" name=""/>
          <p:cNvSpPr txBox="1"/>
          <p:nvPr/>
        </p:nvSpPr>
        <p:spPr>
          <a:xfrm>
            <a:off x="8096250" y="5124450"/>
            <a:ext cx="1524000" cy="1524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FFD6AE">
                    <a:alpha val="100000"/>
                  </a:srgbClr>
                </a:solidFill>
                <a:latin typeface="Calibri"/>
              </a:rPr>
              <a:t><![CDATA[Support Type]]></a:t>
            </a:r>
          </a:p>
        </p:txBody>
      </p:sp>
      <p:sp>
        <p:nvSpPr>
          <p:cNvPr id="32" name=""/>
          <p:cNvSpPr txBox="1"/>
          <p:nvPr/>
        </p:nvSpPr>
        <p:spPr>
          <a:xfrm>
            <a:off x="8096250" y="5314950"/>
            <a:ext cx="2857500" cy="2286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Not specified]]>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" descr="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22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6101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/>
          <p:cNvSpPr txBox="1"/>
          <p:nvPr/>
        </p:nvSpPr>
        <p:spPr>
          <a:xfrm>
            <a:off x="666750" y="171450"/>
            <a:ext cx="7239000" cy="2667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Execution Milestones]]></a:t>
            </a:r>
          </a:p>
        </p:txBody>
      </p:sp>
      <p:sp>
        <p:nvSpPr>
          <p:cNvPr id="5" name=""/>
          <p:cNvSpPr txBox="1"/>
          <p:nvPr/>
        </p:nvSpPr>
        <p:spPr>
          <a:xfrm>
            <a:off x="666750" y="895350"/>
            <a:ext cx="8191500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300" spc="0" u="none" cap="none">
                <a:solidFill>
                  <a:srgbClr val="94A3B8">
                    <a:alpha val="100000"/>
                  </a:srgbClr>
                </a:solidFill>
                <a:latin typeface="Calibri"/>
              </a:rPr>
              <a:t><![CDATA[Key phases planned for implementation and delivery.]]></a:t>
            </a:r>
          </a:p>
        </p:txBody>
      </p:sp>
      <p:sp>
        <p:nvSpPr>
          <p:cNvPr id="6" name="" descr=""/>
          <p:cNvSpPr/>
          <p:nvPr/>
        </p:nvSpPr>
        <p:spPr>
          <a:xfrm>
            <a:off x="666750" y="1123950"/>
            <a:ext cx="1428750" cy="47625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1047750" y="3067050"/>
            <a:ext cx="10096500" cy="28575"/>
          </a:xfrm>
          <a:prstGeom prst="rect">
            <a:avLst/>
          </a:prstGeom>
          <a:solidFill>
            <a:srgbClr val="22355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 descr=""/>
          <p:cNvSpPr/>
          <p:nvPr/>
        </p:nvSpPr>
        <p:spPr>
          <a:xfrm>
            <a:off x="666750" y="1562100"/>
            <a:ext cx="3333750" cy="3333750"/>
          </a:xfrm>
          <a:prstGeom prst="rect">
            <a:avLst/>
          </a:prstGeom>
          <a:solidFill>
            <a:srgbClr val="0F1D3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9" name="" descr=""/>
          <p:cNvSpPr/>
          <p:nvPr/>
        </p:nvSpPr>
        <p:spPr>
          <a:xfrm>
            <a:off x="666750" y="1562100"/>
            <a:ext cx="3333750" cy="7620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0" name=""/>
          <p:cNvSpPr txBox="1"/>
          <p:nvPr/>
        </p:nvSpPr>
        <p:spPr>
          <a:xfrm>
            <a:off x="933450" y="1866900"/>
            <a:ext cx="666750" cy="2476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60A5FA">
                    <a:alpha val="100000"/>
                  </a:srgbClr>
                </a:solidFill>
                <a:latin typeface="Calibri"/>
              </a:rPr>
              <a:t><![CDATA[01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933450" y="2171700"/>
            <a:ext cx="1428750" cy="1714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94A3B8">
                    <a:alpha val="100000"/>
                  </a:srgbClr>
                </a:solidFill>
                <a:latin typeface="Calibri"/>
              </a:rPr>
              <a:t><![CDATA[Milestone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933450" y="2571750"/>
            <a:ext cx="2800350" cy="9144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Milestone details not provided]]></a:t>
            </a:r>
          </a:p>
        </p:txBody>
      </p:sp>
      <p:sp>
        <p:nvSpPr>
          <p:cNvPr id="13" name="" descr=""/>
          <p:cNvSpPr/>
          <p:nvPr/>
        </p:nvSpPr>
        <p:spPr>
          <a:xfrm>
            <a:off x="2228850" y="2895600"/>
            <a:ext cx="171450" cy="17145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4" name="" descr=""/>
          <p:cNvSpPr/>
          <p:nvPr/>
        </p:nvSpPr>
        <p:spPr>
          <a:xfrm>
            <a:off x="933450" y="3905250"/>
            <a:ext cx="2800350" cy="9525"/>
          </a:xfrm>
          <a:prstGeom prst="rect">
            <a:avLst/>
          </a:prstGeom>
          <a:solidFill>
            <a:srgbClr val="22355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5" name=""/>
          <p:cNvSpPr txBox="1"/>
          <p:nvPr/>
        </p:nvSpPr>
        <p:spPr>
          <a:xfrm>
            <a:off x="933450" y="4114800"/>
            <a:ext cx="1143000" cy="1714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94A3B8">
                    <a:alpha val="100000"/>
                  </a:srgbClr>
                </a:solidFill>
                <a:latin typeface="Calibri"/>
              </a:rPr>
              <a:t><![CDATA[Planned Month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933450" y="4343400"/>
            <a:ext cx="1524000" cy="2667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300" spc="0" u="none" cap="none">
                <a:solidFill>
                  <a:srgbClr val="93C5FD">
                    <a:alpha val="100000"/>
                  </a:srgbClr>
                </a:solidFill>
                <a:latin typeface="Calibri"/>
              </a:rPr>
              <a:t><![CDATA[TBD]]></a:t>
            </a:r>
          </a:p>
        </p:txBody>
      </p:sp>
      <p:sp>
        <p:nvSpPr>
          <p:cNvPr id="17" name="" descr=""/>
          <p:cNvSpPr/>
          <p:nvPr/>
        </p:nvSpPr>
        <p:spPr>
          <a:xfrm>
            <a:off x="4381500" y="1562100"/>
            <a:ext cx="3333750" cy="3333750"/>
          </a:xfrm>
          <a:prstGeom prst="rect">
            <a:avLst/>
          </a:prstGeom>
          <a:solidFill>
            <a:srgbClr val="0F1D3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8" name="" descr=""/>
          <p:cNvSpPr/>
          <p:nvPr/>
        </p:nvSpPr>
        <p:spPr>
          <a:xfrm>
            <a:off x="4381500" y="1562100"/>
            <a:ext cx="3333750" cy="7620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9" name=""/>
          <p:cNvSpPr txBox="1"/>
          <p:nvPr/>
        </p:nvSpPr>
        <p:spPr>
          <a:xfrm>
            <a:off x="4648200" y="1866900"/>
            <a:ext cx="666750" cy="2476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60A5FA">
                    <a:alpha val="100000"/>
                  </a:srgbClr>
                </a:solidFill>
                <a:latin typeface="Calibri"/>
              </a:rPr>
              <a:t><![CDATA[02]]></a:t>
            </a:r>
          </a:p>
        </p:txBody>
      </p:sp>
      <p:sp>
        <p:nvSpPr>
          <p:cNvPr id="20" name=""/>
          <p:cNvSpPr txBox="1"/>
          <p:nvPr/>
        </p:nvSpPr>
        <p:spPr>
          <a:xfrm>
            <a:off x="4648200" y="2171700"/>
            <a:ext cx="1428750" cy="1714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94A3B8">
                    <a:alpha val="100000"/>
                  </a:srgbClr>
                </a:solidFill>
                <a:latin typeface="Calibri"/>
              </a:rPr>
              <a:t><![CDATA[Milestone]]></a:t>
            </a:r>
          </a:p>
        </p:txBody>
      </p:sp>
      <p:sp>
        <p:nvSpPr>
          <p:cNvPr id="21" name=""/>
          <p:cNvSpPr txBox="1"/>
          <p:nvPr/>
        </p:nvSpPr>
        <p:spPr>
          <a:xfrm>
            <a:off x="4648200" y="2571750"/>
            <a:ext cx="2800350" cy="9144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Milestone details not provided]]></a:t>
            </a:r>
          </a:p>
        </p:txBody>
      </p:sp>
      <p:sp>
        <p:nvSpPr>
          <p:cNvPr id="22" name="" descr=""/>
          <p:cNvSpPr/>
          <p:nvPr/>
        </p:nvSpPr>
        <p:spPr>
          <a:xfrm>
            <a:off x="5943600" y="2895600"/>
            <a:ext cx="171450" cy="17145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3" name="" descr=""/>
          <p:cNvSpPr/>
          <p:nvPr/>
        </p:nvSpPr>
        <p:spPr>
          <a:xfrm>
            <a:off x="4648200" y="3905250"/>
            <a:ext cx="2800350" cy="9525"/>
          </a:xfrm>
          <a:prstGeom prst="rect">
            <a:avLst/>
          </a:prstGeom>
          <a:solidFill>
            <a:srgbClr val="22355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4" name=""/>
          <p:cNvSpPr txBox="1"/>
          <p:nvPr/>
        </p:nvSpPr>
        <p:spPr>
          <a:xfrm>
            <a:off x="4648200" y="4114800"/>
            <a:ext cx="1143000" cy="1714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94A3B8">
                    <a:alpha val="100000"/>
                  </a:srgbClr>
                </a:solidFill>
                <a:latin typeface="Calibri"/>
              </a:rPr>
              <a:t><![CDATA[Planned Month]]></a:t>
            </a:r>
          </a:p>
        </p:txBody>
      </p:sp>
      <p:sp>
        <p:nvSpPr>
          <p:cNvPr id="25" name=""/>
          <p:cNvSpPr txBox="1"/>
          <p:nvPr/>
        </p:nvSpPr>
        <p:spPr>
          <a:xfrm>
            <a:off x="4648200" y="4343400"/>
            <a:ext cx="1524000" cy="2667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300" spc="0" u="none" cap="none">
                <a:solidFill>
                  <a:srgbClr val="93C5FD">
                    <a:alpha val="100000"/>
                  </a:srgbClr>
                </a:solidFill>
                <a:latin typeface="Calibri"/>
              </a:rPr>
              <a:t><![CDATA[TBD]]></a:t>
            </a:r>
          </a:p>
        </p:txBody>
      </p:sp>
      <p:sp>
        <p:nvSpPr>
          <p:cNvPr id="26" name="" descr=""/>
          <p:cNvSpPr/>
          <p:nvPr/>
        </p:nvSpPr>
        <p:spPr>
          <a:xfrm>
            <a:off x="8096250" y="1562100"/>
            <a:ext cx="3333750" cy="3333750"/>
          </a:xfrm>
          <a:prstGeom prst="rect">
            <a:avLst/>
          </a:prstGeom>
          <a:solidFill>
            <a:srgbClr val="0F1D3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7" name="" descr=""/>
          <p:cNvSpPr/>
          <p:nvPr/>
        </p:nvSpPr>
        <p:spPr>
          <a:xfrm>
            <a:off x="8096250" y="1562100"/>
            <a:ext cx="3333750" cy="7620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8" name=""/>
          <p:cNvSpPr txBox="1"/>
          <p:nvPr/>
        </p:nvSpPr>
        <p:spPr>
          <a:xfrm>
            <a:off x="8362950" y="1866900"/>
            <a:ext cx="666750" cy="2476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60A5FA">
                    <a:alpha val="100000"/>
                  </a:srgbClr>
                </a:solidFill>
                <a:latin typeface="Calibri"/>
              </a:rPr>
              <a:t><![CDATA[03]]></a:t>
            </a:r>
          </a:p>
        </p:txBody>
      </p:sp>
      <p:sp>
        <p:nvSpPr>
          <p:cNvPr id="29" name=""/>
          <p:cNvSpPr txBox="1"/>
          <p:nvPr/>
        </p:nvSpPr>
        <p:spPr>
          <a:xfrm>
            <a:off x="8362950" y="2171700"/>
            <a:ext cx="1428750" cy="1714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94A3B8">
                    <a:alpha val="100000"/>
                  </a:srgbClr>
                </a:solidFill>
                <a:latin typeface="Calibri"/>
              </a:rPr>
              <a:t><![CDATA[Milestone]]></a:t>
            </a:r>
          </a:p>
        </p:txBody>
      </p:sp>
      <p:sp>
        <p:nvSpPr>
          <p:cNvPr id="30" name=""/>
          <p:cNvSpPr txBox="1"/>
          <p:nvPr/>
        </p:nvSpPr>
        <p:spPr>
          <a:xfrm>
            <a:off x="8362950" y="2571750"/>
            <a:ext cx="2800350" cy="9144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Milestone details not provided]]></a:t>
            </a:r>
          </a:p>
        </p:txBody>
      </p:sp>
      <p:sp>
        <p:nvSpPr>
          <p:cNvPr id="31" name="" descr=""/>
          <p:cNvSpPr/>
          <p:nvPr/>
        </p:nvSpPr>
        <p:spPr>
          <a:xfrm>
            <a:off x="9658350" y="2895600"/>
            <a:ext cx="171450" cy="17145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2" name="" descr=""/>
          <p:cNvSpPr/>
          <p:nvPr/>
        </p:nvSpPr>
        <p:spPr>
          <a:xfrm>
            <a:off x="8362950" y="3905250"/>
            <a:ext cx="2800350" cy="9525"/>
          </a:xfrm>
          <a:prstGeom prst="rect">
            <a:avLst/>
          </a:prstGeom>
          <a:solidFill>
            <a:srgbClr val="22355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3" name=""/>
          <p:cNvSpPr txBox="1"/>
          <p:nvPr/>
        </p:nvSpPr>
        <p:spPr>
          <a:xfrm>
            <a:off x="8362950" y="4114800"/>
            <a:ext cx="1143000" cy="1714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94A3B8">
                    <a:alpha val="100000"/>
                  </a:srgbClr>
                </a:solidFill>
                <a:latin typeface="Calibri"/>
              </a:rPr>
              <a:t><![CDATA[Planned Month]]></a:t>
            </a:r>
          </a:p>
        </p:txBody>
      </p:sp>
      <p:sp>
        <p:nvSpPr>
          <p:cNvPr id="34" name=""/>
          <p:cNvSpPr txBox="1"/>
          <p:nvPr/>
        </p:nvSpPr>
        <p:spPr>
          <a:xfrm>
            <a:off x="8362950" y="4343400"/>
            <a:ext cx="1524000" cy="2667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300" spc="0" u="none" cap="none">
                <a:solidFill>
                  <a:srgbClr val="93C5FD">
                    <a:alpha val="100000"/>
                  </a:srgbClr>
                </a:solidFill>
                <a:latin typeface="Calibri"/>
              </a:rPr>
              <a:t><![CDATA[TBD]]>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" descr="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22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6101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/>
          <p:cNvSpPr txBox="1"/>
          <p:nvPr/>
        </p:nvSpPr>
        <p:spPr>
          <a:xfrm>
            <a:off x="666750" y="171450"/>
            <a:ext cx="7239000" cy="2667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Academic & Review Readiness]]></a:t>
            </a:r>
          </a:p>
        </p:txBody>
      </p:sp>
      <p:sp>
        <p:nvSpPr>
          <p:cNvPr id="5" name=""/>
          <p:cNvSpPr txBox="1"/>
          <p:nvPr/>
        </p:nvSpPr>
        <p:spPr>
          <a:xfrm>
            <a:off x="666750" y="895350"/>
            <a:ext cx="8191500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300" spc="0" u="none" cap="none">
                <a:solidFill>
                  <a:srgbClr val="94A3B8">
                    <a:alpha val="100000"/>
                  </a:srgbClr>
                </a:solidFill>
                <a:latin typeface="Calibri"/>
              </a:rPr>
              <a:t><![CDATA[Institutional context, review status, and credibility indicators.]]></a:t>
            </a:r>
          </a:p>
        </p:txBody>
      </p:sp>
      <p:sp>
        <p:nvSpPr>
          <p:cNvPr id="6" name="" descr=""/>
          <p:cNvSpPr/>
          <p:nvPr/>
        </p:nvSpPr>
        <p:spPr>
          <a:xfrm>
            <a:off x="666750" y="1123950"/>
            <a:ext cx="1428750" cy="47625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666750" y="1352550"/>
            <a:ext cx="5143500" cy="2047875"/>
          </a:xfrm>
          <a:prstGeom prst="rect">
            <a:avLst/>
          </a:prstGeom>
          <a:solidFill>
            <a:srgbClr val="0F1D3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 descr=""/>
          <p:cNvSpPr/>
          <p:nvPr/>
        </p:nvSpPr>
        <p:spPr>
          <a:xfrm>
            <a:off x="666750" y="1352550"/>
            <a:ext cx="76200" cy="2047875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9" name=""/>
          <p:cNvSpPr txBox="1"/>
          <p:nvPr/>
        </p:nvSpPr>
        <p:spPr>
          <a:xfrm>
            <a:off x="914400" y="1524000"/>
            <a:ext cx="4648200" cy="2286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Academic Context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914400" y="1905000"/>
            <a:ext cx="4648200" cy="1266825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700" spc="0" u="none" cap="none">
                <a:solidFill>
                  <a:srgbClr val="E5E7EB">
                    <a:alpha val="100000"/>
                  </a:srgbClr>
                </a:solidFill>
                <a:latin typeface="Calibri"/>
              </a:rPr>
              <a:t><![CDATA[Student: ققققق
Academic Level: Not specified
Supervisor: Main Supervisor
University: Not specified
Department: Not specified
Governorate: Not specified]]></a:t>
            </a:r>
          </a:p>
        </p:txBody>
      </p:sp>
      <p:sp>
        <p:nvSpPr>
          <p:cNvPr id="11" name="" descr=""/>
          <p:cNvSpPr/>
          <p:nvPr/>
        </p:nvSpPr>
        <p:spPr>
          <a:xfrm>
            <a:off x="6096000" y="1352550"/>
            <a:ext cx="5429250" cy="2047875"/>
          </a:xfrm>
          <a:prstGeom prst="rect">
            <a:avLst/>
          </a:prstGeom>
          <a:solidFill>
            <a:srgbClr val="0F1D3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2" name="" descr=""/>
          <p:cNvSpPr/>
          <p:nvPr/>
        </p:nvSpPr>
        <p:spPr>
          <a:xfrm>
            <a:off x="6096000" y="1352550"/>
            <a:ext cx="76200" cy="2047875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3" name=""/>
          <p:cNvSpPr txBox="1"/>
          <p:nvPr/>
        </p:nvSpPr>
        <p:spPr>
          <a:xfrm>
            <a:off x="6343650" y="1524000"/>
            <a:ext cx="4933950" cy="2286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Final Review Note]]></a:t>
            </a:r>
          </a:p>
        </p:txBody>
      </p:sp>
      <p:sp>
        <p:nvSpPr>
          <p:cNvPr id="14" name=""/>
          <p:cNvSpPr txBox="1"/>
          <p:nvPr/>
        </p:nvSpPr>
        <p:spPr>
          <a:xfrm>
            <a:off x="6343650" y="1905000"/>
            <a:ext cx="4933950" cy="1266825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700" spc="0" u="none" cap="none">
                <a:solidFill>
                  <a:srgbClr val="E5E7EB">
                    <a:alpha val="100000"/>
                  </a:srgbClr>
                </a:solidFill>
                <a:latin typeface="Calibri"/>
              </a:rPr>
              <a:t><![CDATA[No final review note available.]]></a:t>
            </a:r>
          </a:p>
        </p:txBody>
      </p:sp>
      <p:sp>
        <p:nvSpPr>
          <p:cNvPr id="15" name="" descr=""/>
          <p:cNvSpPr/>
          <p:nvPr/>
        </p:nvSpPr>
        <p:spPr>
          <a:xfrm>
            <a:off x="666750" y="3714750"/>
            <a:ext cx="2428875" cy="1066800"/>
          </a:xfrm>
          <a:prstGeom prst="rect">
            <a:avLst/>
          </a:prstGeom>
          <a:solidFill>
            <a:srgbClr val="102345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6" name=""/>
          <p:cNvSpPr txBox="1"/>
          <p:nvPr/>
        </p:nvSpPr>
        <p:spPr>
          <a:xfrm>
            <a:off x="819150" y="3848100"/>
            <a:ext cx="2124075" cy="1333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93C5FD">
                    <a:alpha val="100000"/>
                  </a:srgbClr>
                </a:solidFill>
                <a:latin typeface="Calibri"/>
              </a:rPr>
              <a:t><![CDATA[Approved Reviews]]></a:t>
            </a:r>
          </a:p>
        </p:txBody>
      </p:sp>
      <p:sp>
        <p:nvSpPr>
          <p:cNvPr id="17" name=""/>
          <p:cNvSpPr txBox="1"/>
          <p:nvPr/>
        </p:nvSpPr>
        <p:spPr>
          <a:xfrm>
            <a:off x="819150" y="4133850"/>
            <a:ext cx="2124075" cy="2667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9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1]]></a:t>
            </a:r>
          </a:p>
        </p:txBody>
      </p:sp>
      <p:sp>
        <p:nvSpPr>
          <p:cNvPr id="18" name="" descr=""/>
          <p:cNvSpPr/>
          <p:nvPr/>
        </p:nvSpPr>
        <p:spPr>
          <a:xfrm>
            <a:off x="3286125" y="3714750"/>
            <a:ext cx="2428875" cy="1066800"/>
          </a:xfrm>
          <a:prstGeom prst="rect">
            <a:avLst/>
          </a:prstGeom>
          <a:solidFill>
            <a:srgbClr val="102A20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9" name=""/>
          <p:cNvSpPr txBox="1"/>
          <p:nvPr/>
        </p:nvSpPr>
        <p:spPr>
          <a:xfrm>
            <a:off x="3438525" y="3848100"/>
            <a:ext cx="2124075" cy="1333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86EFAC">
                    <a:alpha val="100000"/>
                  </a:srgbClr>
                </a:solidFill>
                <a:latin typeface="Calibri"/>
              </a:rPr>
              <a:t><![CDATA[Approved Investments]]></a:t>
            </a:r>
          </a:p>
        </p:txBody>
      </p:sp>
      <p:sp>
        <p:nvSpPr>
          <p:cNvPr id="20" name=""/>
          <p:cNvSpPr txBox="1"/>
          <p:nvPr/>
        </p:nvSpPr>
        <p:spPr>
          <a:xfrm>
            <a:off x="3438525" y="4133850"/>
            <a:ext cx="2124075" cy="2667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9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0]]></a:t>
            </a:r>
          </a:p>
        </p:txBody>
      </p:sp>
      <p:sp>
        <p:nvSpPr>
          <p:cNvPr id="21" name="" descr=""/>
          <p:cNvSpPr/>
          <p:nvPr/>
        </p:nvSpPr>
        <p:spPr>
          <a:xfrm>
            <a:off x="5905500" y="3714750"/>
            <a:ext cx="2428875" cy="1066800"/>
          </a:xfrm>
          <a:prstGeom prst="rect">
            <a:avLst/>
          </a:prstGeom>
          <a:solidFill>
            <a:srgbClr val="23173D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2" name=""/>
          <p:cNvSpPr txBox="1"/>
          <p:nvPr/>
        </p:nvSpPr>
        <p:spPr>
          <a:xfrm>
            <a:off x="6057900" y="3848100"/>
            <a:ext cx="2124075" cy="1333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D8B4FE">
                    <a:alpha val="100000"/>
                  </a:srgbClr>
                </a:solidFill>
                <a:latin typeface="Calibri"/>
              </a:rPr>
              <a:t><![CDATA[Scan Score]]></a:t>
            </a:r>
          </a:p>
        </p:txBody>
      </p:sp>
      <p:sp>
        <p:nvSpPr>
          <p:cNvPr id="23" name=""/>
          <p:cNvSpPr txBox="1"/>
          <p:nvPr/>
        </p:nvSpPr>
        <p:spPr>
          <a:xfrm>
            <a:off x="6057900" y="4133850"/>
            <a:ext cx="2124075" cy="2667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9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Not available]]></a:t>
            </a:r>
          </a:p>
        </p:txBody>
      </p:sp>
      <p:sp>
        <p:nvSpPr>
          <p:cNvPr id="24" name="" descr=""/>
          <p:cNvSpPr/>
          <p:nvPr/>
        </p:nvSpPr>
        <p:spPr>
          <a:xfrm>
            <a:off x="8524875" y="3714750"/>
            <a:ext cx="3000375" cy="1066800"/>
          </a:xfrm>
          <a:prstGeom prst="rect">
            <a:avLst/>
          </a:prstGeom>
          <a:solidFill>
            <a:srgbClr val="311A0C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5" name=""/>
          <p:cNvSpPr txBox="1"/>
          <p:nvPr/>
        </p:nvSpPr>
        <p:spPr>
          <a:xfrm>
            <a:off x="8677275" y="3848100"/>
            <a:ext cx="2695575" cy="1333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FDBA74">
                    <a:alpha val="100000"/>
                  </a:srgbClr>
                </a:solidFill>
                <a:latin typeface="Calibri"/>
              </a:rPr>
              <a:t><![CDATA[Scanner Status]]></a:t>
            </a:r>
          </a:p>
        </p:txBody>
      </p:sp>
      <p:sp>
        <p:nvSpPr>
          <p:cNvPr id="26" name=""/>
          <p:cNvSpPr txBox="1"/>
          <p:nvPr/>
        </p:nvSpPr>
        <p:spPr>
          <a:xfrm>
            <a:off x="8677275" y="4133850"/>
            <a:ext cx="2695575" cy="2667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9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Not available]]></a:t>
            </a:r>
          </a:p>
        </p:txBody>
      </p:sp>
      <p:sp>
        <p:nvSpPr>
          <p:cNvPr id="27" name="" descr=""/>
          <p:cNvSpPr/>
          <p:nvPr/>
        </p:nvSpPr>
        <p:spPr>
          <a:xfrm>
            <a:off x="666750" y="5048250"/>
            <a:ext cx="10858500" cy="876300"/>
          </a:xfrm>
          <a:prstGeom prst="rect">
            <a:avLst/>
          </a:prstGeom>
          <a:solidFill>
            <a:srgbClr val="081B3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8" name="" descr=""/>
          <p:cNvSpPr/>
          <p:nvPr/>
        </p:nvSpPr>
        <p:spPr>
          <a:xfrm>
            <a:off x="666750" y="5048250"/>
            <a:ext cx="10858500" cy="7620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9" name=""/>
          <p:cNvSpPr txBox="1"/>
          <p:nvPr/>
        </p:nvSpPr>
        <p:spPr>
          <a:xfrm>
            <a:off x="914400" y="5295900"/>
            <a:ext cx="2095500" cy="1524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93C5FD">
                    <a:alpha val="100000"/>
                  </a:srgbClr>
                </a:solidFill>
                <a:latin typeface="Calibri"/>
              </a:rPr>
              <a:t><![CDATA[Decision Status]]></a:t>
            </a:r>
          </a:p>
        </p:txBody>
      </p:sp>
      <p:sp>
        <p:nvSpPr>
          <p:cNvPr id="30" name=""/>
          <p:cNvSpPr txBox="1"/>
          <p:nvPr/>
        </p:nvSpPr>
        <p:spPr>
          <a:xfrm>
            <a:off x="914400" y="5486400"/>
            <a:ext cx="2381250" cy="2286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published]]></a:t>
            </a:r>
          </a:p>
        </p:txBody>
      </p:sp>
      <p:sp>
        <p:nvSpPr>
          <p:cNvPr id="31" name=""/>
          <p:cNvSpPr txBox="1"/>
          <p:nvPr/>
        </p:nvSpPr>
        <p:spPr>
          <a:xfrm>
            <a:off x="3714750" y="5295900"/>
            <a:ext cx="1905000" cy="1524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93C5FD">
                    <a:alpha val="100000"/>
                  </a:srgbClr>
                </a:solidFill>
                <a:latin typeface="Calibri"/>
              </a:rPr>
              <a:t><![CDATA[Supervisor]]></a:t>
            </a:r>
          </a:p>
        </p:txBody>
      </p:sp>
      <p:sp>
        <p:nvSpPr>
          <p:cNvPr id="32" name=""/>
          <p:cNvSpPr txBox="1"/>
          <p:nvPr/>
        </p:nvSpPr>
        <p:spPr>
          <a:xfrm>
            <a:off x="3714750" y="5486400"/>
            <a:ext cx="2476500" cy="2286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9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Main Supervisor]]></a:t>
            </a:r>
          </a:p>
        </p:txBody>
      </p:sp>
      <p:sp>
        <p:nvSpPr>
          <p:cNvPr id="33" name=""/>
          <p:cNvSpPr txBox="1"/>
          <p:nvPr/>
        </p:nvSpPr>
        <p:spPr>
          <a:xfrm>
            <a:off x="6667500" y="5295900"/>
            <a:ext cx="1714500" cy="1524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93C5FD">
                    <a:alpha val="100000"/>
                  </a:srgbClr>
                </a:solidFill>
                <a:latin typeface="Calibri"/>
              </a:rPr>
              <a:t><![CDATA[Student]]></a:t>
            </a:r>
          </a:p>
        </p:txBody>
      </p:sp>
      <p:sp>
        <p:nvSpPr>
          <p:cNvPr id="34" name=""/>
          <p:cNvSpPr txBox="1"/>
          <p:nvPr/>
        </p:nvSpPr>
        <p:spPr>
          <a:xfrm>
            <a:off x="6667500" y="5486400"/>
            <a:ext cx="2286000" cy="2286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9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ققققق]]></a:t>
            </a:r>
          </a:p>
        </p:txBody>
      </p:sp>
      <p:sp>
        <p:nvSpPr>
          <p:cNvPr id="35" name=""/>
          <p:cNvSpPr txBox="1"/>
          <p:nvPr/>
        </p:nvSpPr>
        <p:spPr>
          <a:xfrm>
            <a:off x="9334500" y="5295900"/>
            <a:ext cx="1619250" cy="1524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93C5FD">
                    <a:alpha val="100000"/>
                  </a:srgbClr>
                </a:solidFill>
                <a:latin typeface="Calibri"/>
              </a:rPr>
              <a:t><![CDATA[Reviewed At]]></a:t>
            </a:r>
          </a:p>
        </p:txBody>
      </p:sp>
      <p:sp>
        <p:nvSpPr>
          <p:cNvPr id="36" name=""/>
          <p:cNvSpPr txBox="1"/>
          <p:nvPr/>
        </p:nvSpPr>
        <p:spPr>
          <a:xfrm>
            <a:off x="9334500" y="5486400"/>
            <a:ext cx="1619250" cy="2286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2026-03-29 00:03]]>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33">
  <a:themeElements>
    <a:clrScheme name="Theme3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33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33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b="180000" l="50000" r="50000" t="-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6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Unknown Company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Unknown Creator</dc:creator>
  <cp:lastModifiedBy>Unknown Creator</cp:lastModifiedBy>
  <dcterms:created xsi:type="dcterms:W3CDTF">2026-04-10T08:26:29Z</dcterms:created>
  <dcterms:modified xsi:type="dcterms:W3CDTF">2026-04-10T08:26:29Z</dcterms:modified>
  <dc:title>Untitled Presentation</dc:title>
  <dc:description/>
  <dc:subject/>
  <cp:keywords/>
  <cp:category/>
  <cp:revision/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