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presProps" Target="presProps.xml"/>
  <Relationship Id="rId10" Type="http://schemas.openxmlformats.org/officeDocument/2006/relationships/viewProps" Target="viewProps.xml"/>
  <Relationship Id="rId11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552956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5381625"/>
            <a:ext cx="12192000" cy="1476375"/>
          </a:xfrm>
          <a:prstGeom prst="rect">
            <a:avLst/>
          </a:prstGeom>
          <a:solidFill>
            <a:srgbClr val="09182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495300"/>
            <a:ext cx="3238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BFDBFE">
                    <a:alpha val="100000"/>
                  </a:srgbClr>
                </a:solidFill>
                <a:latin typeface="Calibri"/>
              </a:rPr>
              <a:t><![CDATA[VERTEXGRAD · INVESTOR PITCH DECK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85800" y="914400"/>
            <a:ext cx="6667500" cy="800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1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تجربة الباور بوينت كامل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85800" y="1790700"/>
            <a:ext cx="6191250" cy="800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تجربة الان كامل من الاول الى الاخير في هذا الباور بوينيت]]></a:t>
            </a:r>
          </a:p>
        </p:txBody>
      </p:sp>
      <p:sp>
        <p:nvSpPr>
          <p:cNvPr id="8" name="" descr=""/>
          <p:cNvSpPr/>
          <p:nvPr/>
        </p:nvSpPr>
        <p:spPr>
          <a:xfrm>
            <a:off x="685800" y="2876550"/>
            <a:ext cx="6191250" cy="11430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895350" y="3086100"/>
            <a:ext cx="180975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CATEGORY]]></a:t>
            </a:r>
          </a:p>
        </p:txBody>
      </p:sp>
      <p:sp>
        <p:nvSpPr>
          <p:cNvPr id="10" name="" descr=""/>
          <p:cNvSpPr/>
          <p:nvPr/>
        </p:nvSpPr>
        <p:spPr>
          <a:xfrm>
            <a:off x="895350" y="3314700"/>
            <a:ext cx="533400" cy="285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95350" y="3467100"/>
            <a:ext cx="180975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lectrical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38450" y="3086100"/>
            <a:ext cx="180975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PROJECT TYPE]]></a:t>
            </a:r>
          </a:p>
        </p:txBody>
      </p:sp>
      <p:sp>
        <p:nvSpPr>
          <p:cNvPr id="13" name="" descr=""/>
          <p:cNvSpPr/>
          <p:nvPr/>
        </p:nvSpPr>
        <p:spPr>
          <a:xfrm>
            <a:off x="2838450" y="3314700"/>
            <a:ext cx="533400" cy="285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2838450" y="3467100"/>
            <a:ext cx="180975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graduation_project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800600" y="3086100"/>
            <a:ext cx="18669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PROJECT NATURE]]></a:t>
            </a:r>
          </a:p>
        </p:txBody>
      </p:sp>
      <p:sp>
        <p:nvSpPr>
          <p:cNvPr id="16" name="" descr=""/>
          <p:cNvSpPr/>
          <p:nvPr/>
        </p:nvSpPr>
        <p:spPr>
          <a:xfrm>
            <a:off x="4800600" y="3314700"/>
            <a:ext cx="533400" cy="285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4800600" y="3467100"/>
            <a:ext cx="18669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research_practical]]></a:t>
            </a:r>
          </a:p>
        </p:txBody>
      </p:sp>
      <p:sp>
        <p:nvSpPr>
          <p:cNvPr id="18" name="" descr=""/>
          <p:cNvSpPr/>
          <p:nvPr/>
        </p:nvSpPr>
        <p:spPr>
          <a:xfrm>
            <a:off x="8115300" y="666750"/>
            <a:ext cx="3314700" cy="4095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 descr=""/>
          <p:cNvSpPr/>
          <p:nvPr/>
        </p:nvSpPr>
        <p:spPr>
          <a:xfrm>
            <a:off x="8267700" y="819150"/>
            <a:ext cx="3009900" cy="37909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8496300" y="2190750"/>
            <a:ext cx="25527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9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VertexGrad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8496300" y="2609850"/>
            <a:ext cx="25527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Investor Presentation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" y="5638800"/>
            <a:ext cx="2381250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838200" y="5772150"/>
            <a:ext cx="20764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Budget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838200" y="6000750"/>
            <a:ext cx="20764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$2,000]]></a:t>
            </a:r>
          </a:p>
        </p:txBody>
      </p:sp>
      <p:sp>
        <p:nvSpPr>
          <p:cNvPr id="25" name="" descr=""/>
          <p:cNvSpPr/>
          <p:nvPr/>
        </p:nvSpPr>
        <p:spPr>
          <a:xfrm>
            <a:off x="3276600" y="5638800"/>
            <a:ext cx="2143125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6" name=""/>
          <p:cNvSpPr txBox="1"/>
          <p:nvPr/>
        </p:nvSpPr>
        <p:spPr>
          <a:xfrm>
            <a:off x="3429000" y="5772150"/>
            <a:ext cx="183832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Duration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3429000" y="6000750"/>
            <a:ext cx="1838325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2 Months]]></a:t>
            </a:r>
          </a:p>
        </p:txBody>
      </p:sp>
      <p:sp>
        <p:nvSpPr>
          <p:cNvPr id="28" name="" descr=""/>
          <p:cNvSpPr/>
          <p:nvPr/>
        </p:nvSpPr>
        <p:spPr>
          <a:xfrm>
            <a:off x="5629275" y="5638800"/>
            <a:ext cx="2381250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5781675" y="5772150"/>
            <a:ext cx="20764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Support Type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5781675" y="6000750"/>
            <a:ext cx="20764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technical]]></a:t>
            </a:r>
          </a:p>
        </p:txBody>
      </p:sp>
      <p:sp>
        <p:nvSpPr>
          <p:cNvPr id="31" name="" descr=""/>
          <p:cNvSpPr/>
          <p:nvPr/>
        </p:nvSpPr>
        <p:spPr>
          <a:xfrm>
            <a:off x="8220075" y="5638800"/>
            <a:ext cx="3762375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2" name=""/>
          <p:cNvSpPr txBox="1"/>
          <p:nvPr/>
        </p:nvSpPr>
        <p:spPr>
          <a:xfrm>
            <a:off x="8372475" y="5772150"/>
            <a:ext cx="34575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Institution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8372475" y="6000750"/>
            <a:ext cx="3457575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جامعة سباء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685800" y="6572250"/>
            <a:ext cx="107632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CBD5E1">
                    <a:alpha val="100000"/>
                  </a:srgbClr>
                </a:solidFill>
                <a:latin typeface="Calibri"/>
              </a:rPr>
              <a:t><![CDATA[Prepared for investor review and opportunity screening.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ve Overview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A concise view of the project, its context, and its intended value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14450"/>
            <a:ext cx="6953250" cy="20955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314450"/>
            <a:ext cx="76200" cy="20955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14400" y="1485900"/>
            <a:ext cx="64579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ject Summary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14400" y="1866900"/>
            <a:ext cx="6457950" cy="1314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تجربة الان كامل من الاول الى الاخير في هذا الباور بوينيت]]></a:t>
            </a:r>
          </a:p>
        </p:txBody>
      </p:sp>
      <p:sp>
        <p:nvSpPr>
          <p:cNvPr id="11" name="" descr=""/>
          <p:cNvSpPr/>
          <p:nvPr/>
        </p:nvSpPr>
        <p:spPr>
          <a:xfrm>
            <a:off x="7905750" y="1390650"/>
            <a:ext cx="3429000" cy="590550"/>
          </a:xfrm>
          <a:prstGeom prst="rect">
            <a:avLst/>
          </a:prstGeom>
          <a:solidFill>
            <a:srgbClr val="10234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8077200" y="1504950"/>
            <a:ext cx="308610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Funding Needed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8077200" y="1676400"/>
            <a:ext cx="3086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5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ye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7905750" y="2114550"/>
            <a:ext cx="3429000" cy="590550"/>
          </a:xfrm>
          <a:prstGeom prst="rect">
            <a:avLst/>
          </a:prstGeom>
          <a:solidFill>
            <a:srgbClr val="102A2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8077200" y="2228850"/>
            <a:ext cx="308610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86EFAC">
                    <a:alpha val="100000"/>
                  </a:srgbClr>
                </a:solidFill>
                <a:latin typeface="Calibri"/>
              </a:rPr>
              <a:t><![CDATA[Scanner Status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8077200" y="2400300"/>
            <a:ext cx="3086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5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ailed]]></a:t>
            </a:r>
          </a:p>
        </p:txBody>
      </p:sp>
      <p:sp>
        <p:nvSpPr>
          <p:cNvPr id="17" name="" descr=""/>
          <p:cNvSpPr/>
          <p:nvPr/>
        </p:nvSpPr>
        <p:spPr>
          <a:xfrm>
            <a:off x="7905750" y="2838450"/>
            <a:ext cx="3429000" cy="590550"/>
          </a:xfrm>
          <a:prstGeom prst="rect">
            <a:avLst/>
          </a:prstGeom>
          <a:solidFill>
            <a:srgbClr val="2317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8077200" y="2952750"/>
            <a:ext cx="308610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D8B4FE">
                    <a:alpha val="100000"/>
                  </a:srgbClr>
                </a:solidFill>
                <a:latin typeface="Calibri"/>
              </a:rPr>
              <a:t><![CDATA[Department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8077200" y="3124200"/>
            <a:ext cx="3086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5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تكنولوجيا المعلومات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66750" y="3771900"/>
            <a:ext cx="3429000" cy="20002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 descr=""/>
          <p:cNvSpPr/>
          <p:nvPr/>
        </p:nvSpPr>
        <p:spPr>
          <a:xfrm>
            <a:off x="666750" y="3771900"/>
            <a:ext cx="3429000" cy="666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2" name=""/>
          <p:cNvSpPr txBox="1"/>
          <p:nvPr/>
        </p:nvSpPr>
        <p:spPr>
          <a:xfrm>
            <a:off x="895350" y="4038600"/>
            <a:ext cx="29718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Project Nature]]></a:t>
            </a:r>
          </a:p>
        </p:txBody>
      </p:sp>
      <p:sp>
        <p:nvSpPr>
          <p:cNvPr id="23" name="" descr=""/>
          <p:cNvSpPr/>
          <p:nvPr/>
        </p:nvSpPr>
        <p:spPr>
          <a:xfrm>
            <a:off x="895350" y="4324350"/>
            <a:ext cx="704850" cy="28575"/>
          </a:xfrm>
          <a:prstGeom prst="rect">
            <a:avLst/>
          </a:prstGeom>
          <a:solidFill>
            <a:srgbClr val="60A5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4" name=""/>
          <p:cNvSpPr txBox="1"/>
          <p:nvPr/>
        </p:nvSpPr>
        <p:spPr>
          <a:xfrm>
            <a:off x="895350" y="4591050"/>
            <a:ext cx="2971800" cy="971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research_practical]]></a:t>
            </a:r>
          </a:p>
        </p:txBody>
      </p:sp>
      <p:sp>
        <p:nvSpPr>
          <p:cNvPr id="25" name="" descr=""/>
          <p:cNvSpPr/>
          <p:nvPr/>
        </p:nvSpPr>
        <p:spPr>
          <a:xfrm>
            <a:off x="4381500" y="3771900"/>
            <a:ext cx="3429000" cy="20002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6" name="" descr=""/>
          <p:cNvSpPr/>
          <p:nvPr/>
        </p:nvSpPr>
        <p:spPr>
          <a:xfrm>
            <a:off x="4381500" y="3771900"/>
            <a:ext cx="3429000" cy="666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7" name=""/>
          <p:cNvSpPr txBox="1"/>
          <p:nvPr/>
        </p:nvSpPr>
        <p:spPr>
          <a:xfrm>
            <a:off x="4610100" y="4038600"/>
            <a:ext cx="29718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Project Type]]></a:t>
            </a:r>
          </a:p>
        </p:txBody>
      </p:sp>
      <p:sp>
        <p:nvSpPr>
          <p:cNvPr id="28" name="" descr=""/>
          <p:cNvSpPr/>
          <p:nvPr/>
        </p:nvSpPr>
        <p:spPr>
          <a:xfrm>
            <a:off x="4610100" y="4324350"/>
            <a:ext cx="704850" cy="28575"/>
          </a:xfrm>
          <a:prstGeom prst="rect">
            <a:avLst/>
          </a:prstGeom>
          <a:solidFill>
            <a:srgbClr val="60A5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4610100" y="4591050"/>
            <a:ext cx="2971800" cy="971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graduation_project]]></a:t>
            </a:r>
          </a:p>
        </p:txBody>
      </p:sp>
      <p:sp>
        <p:nvSpPr>
          <p:cNvPr id="30" name="" descr=""/>
          <p:cNvSpPr/>
          <p:nvPr/>
        </p:nvSpPr>
        <p:spPr>
          <a:xfrm>
            <a:off x="8096250" y="3771900"/>
            <a:ext cx="3238500" cy="20002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1" name="" descr=""/>
          <p:cNvSpPr/>
          <p:nvPr/>
        </p:nvSpPr>
        <p:spPr>
          <a:xfrm>
            <a:off x="8096250" y="3771900"/>
            <a:ext cx="3238500" cy="666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2" name=""/>
          <p:cNvSpPr txBox="1"/>
          <p:nvPr/>
        </p:nvSpPr>
        <p:spPr>
          <a:xfrm>
            <a:off x="8324850" y="4038600"/>
            <a:ext cx="27813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Target Beneficiaries]]></a:t>
            </a:r>
          </a:p>
        </p:txBody>
      </p:sp>
      <p:sp>
        <p:nvSpPr>
          <p:cNvPr id="33" name="" descr=""/>
          <p:cNvSpPr/>
          <p:nvPr/>
        </p:nvSpPr>
        <p:spPr>
          <a:xfrm>
            <a:off x="8324850" y="4324350"/>
            <a:ext cx="704850" cy="28575"/>
          </a:xfrm>
          <a:prstGeom prst="rect">
            <a:avLst/>
          </a:prstGeom>
          <a:solidFill>
            <a:srgbClr val="60A5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4" name=""/>
          <p:cNvSpPr txBox="1"/>
          <p:nvPr/>
        </p:nvSpPr>
        <p:spPr>
          <a:xfrm>
            <a:off x="8324850" y="4591050"/>
            <a:ext cx="2781300" cy="971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الطلاب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blem & Impact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Why this project matters and what value it aims to create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52550"/>
            <a:ext cx="5238750" cy="22479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352550"/>
            <a:ext cx="76200" cy="22479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14400" y="1524000"/>
            <a:ext cx="47434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blem Statemen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14400" y="1905000"/>
            <a:ext cx="4743450" cy="1466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تحل كل شي في مشروع وتوليد باور بوينت]]></a:t>
            </a:r>
          </a:p>
        </p:txBody>
      </p:sp>
      <p:sp>
        <p:nvSpPr>
          <p:cNvPr id="11" name="" descr=""/>
          <p:cNvSpPr/>
          <p:nvPr/>
        </p:nvSpPr>
        <p:spPr>
          <a:xfrm>
            <a:off x="6286500" y="1352550"/>
            <a:ext cx="5238750" cy="22479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 descr=""/>
          <p:cNvSpPr/>
          <p:nvPr/>
        </p:nvSpPr>
        <p:spPr>
          <a:xfrm>
            <a:off x="6286500" y="1352550"/>
            <a:ext cx="76200" cy="22479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6534150" y="1524000"/>
            <a:ext cx="47434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pected Impact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6534150" y="1905000"/>
            <a:ext cx="4743450" cy="1466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سوف تحل مشاكل جميع الطلاب حرفيا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66750" y="3905250"/>
            <a:ext cx="10858500" cy="20383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 descr=""/>
          <p:cNvSpPr/>
          <p:nvPr/>
        </p:nvSpPr>
        <p:spPr>
          <a:xfrm>
            <a:off x="666750" y="3905250"/>
            <a:ext cx="1085850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914400" y="4210050"/>
            <a:ext cx="2857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mmunity Benefit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914400" y="4591050"/>
            <a:ext cx="4762500" cy="952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مشاكل المشاريع والطلاب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286500" y="4324350"/>
            <a:ext cx="1571625" cy="9334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6419850" y="4457700"/>
            <a:ext cx="1304925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Category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6419850" y="4705350"/>
            <a:ext cx="1304925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lectrical]]></a:t>
            </a:r>
          </a:p>
        </p:txBody>
      </p:sp>
      <p:sp>
        <p:nvSpPr>
          <p:cNvPr id="22" name="" descr=""/>
          <p:cNvSpPr/>
          <p:nvPr/>
        </p:nvSpPr>
        <p:spPr>
          <a:xfrm>
            <a:off x="8048625" y="4324350"/>
            <a:ext cx="1571625" cy="9334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8181975" y="4457700"/>
            <a:ext cx="1304925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Beneficiaries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8181975" y="4705350"/>
            <a:ext cx="1304925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الطلاب]]></a:t>
            </a:r>
          </a:p>
        </p:txBody>
      </p:sp>
      <p:sp>
        <p:nvSpPr>
          <p:cNvPr id="25" name="" descr=""/>
          <p:cNvSpPr/>
          <p:nvPr/>
        </p:nvSpPr>
        <p:spPr>
          <a:xfrm>
            <a:off x="9810750" y="4324350"/>
            <a:ext cx="1428750" cy="9334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6" name=""/>
          <p:cNvSpPr txBox="1"/>
          <p:nvPr/>
        </p:nvSpPr>
        <p:spPr>
          <a:xfrm>
            <a:off x="9944100" y="4457700"/>
            <a:ext cx="116205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Region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9944100" y="4705350"/>
            <a:ext cx="11620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anaa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unding Overview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Capital need, timeline, and requested support structure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33500"/>
            <a:ext cx="2524125" cy="1028700"/>
          </a:xfrm>
          <a:prstGeom prst="rect">
            <a:avLst/>
          </a:prstGeom>
          <a:solidFill>
            <a:srgbClr val="102A2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819150" y="1466850"/>
            <a:ext cx="221932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86EFAC">
                    <a:alpha val="100000"/>
                  </a:srgbClr>
                </a:solidFill>
                <a:latin typeface="Calibri"/>
              </a:rPr>
              <a:t><![CDATA[Budget]]></a:t>
            </a:r>
          </a:p>
        </p:txBody>
      </p:sp>
      <p:sp>
        <p:nvSpPr>
          <p:cNvPr id="9" name=""/>
          <p:cNvSpPr txBox="1"/>
          <p:nvPr/>
        </p:nvSpPr>
        <p:spPr>
          <a:xfrm>
            <a:off x="819150" y="1752600"/>
            <a:ext cx="221932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$2,000]]></a:t>
            </a:r>
          </a:p>
        </p:txBody>
      </p:sp>
      <p:sp>
        <p:nvSpPr>
          <p:cNvPr id="10" name="" descr=""/>
          <p:cNvSpPr/>
          <p:nvPr/>
        </p:nvSpPr>
        <p:spPr>
          <a:xfrm>
            <a:off x="3381375" y="1333500"/>
            <a:ext cx="2381250" cy="1028700"/>
          </a:xfrm>
          <a:prstGeom prst="rect">
            <a:avLst/>
          </a:prstGeom>
          <a:solidFill>
            <a:srgbClr val="10234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3533775" y="1466850"/>
            <a:ext cx="20764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Duration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3533775" y="1752600"/>
            <a:ext cx="207645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2 Months]]></a:t>
            </a:r>
          </a:p>
        </p:txBody>
      </p:sp>
      <p:sp>
        <p:nvSpPr>
          <p:cNvPr id="13" name="" descr=""/>
          <p:cNvSpPr/>
          <p:nvPr/>
        </p:nvSpPr>
        <p:spPr>
          <a:xfrm>
            <a:off x="5953125" y="1333500"/>
            <a:ext cx="2667000" cy="1028700"/>
          </a:xfrm>
          <a:prstGeom prst="rect">
            <a:avLst/>
          </a:prstGeom>
          <a:solidFill>
            <a:srgbClr val="311A0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6105525" y="1466850"/>
            <a:ext cx="236220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DBA74">
                    <a:alpha val="100000"/>
                  </a:srgbClr>
                </a:solidFill>
                <a:latin typeface="Calibri"/>
              </a:rPr>
              <a:t><![CDATA[Needs Funding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6105525" y="1752600"/>
            <a:ext cx="23622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yes]]></a:t>
            </a:r>
          </a:p>
        </p:txBody>
      </p:sp>
      <p:sp>
        <p:nvSpPr>
          <p:cNvPr id="16" name="" descr=""/>
          <p:cNvSpPr/>
          <p:nvPr/>
        </p:nvSpPr>
        <p:spPr>
          <a:xfrm>
            <a:off x="8810625" y="1333500"/>
            <a:ext cx="2714625" cy="1028700"/>
          </a:xfrm>
          <a:prstGeom prst="rect">
            <a:avLst/>
          </a:prstGeom>
          <a:solidFill>
            <a:srgbClr val="2317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8963025" y="1466850"/>
            <a:ext cx="240982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D8B4FE">
                    <a:alpha val="100000"/>
                  </a:srgbClr>
                </a:solidFill>
                <a:latin typeface="Calibri"/>
              </a:rPr>
              <a:t><![CDATA[Support Type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8963025" y="1752600"/>
            <a:ext cx="240982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technical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66750" y="2714625"/>
            <a:ext cx="6858000" cy="3000375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 descr=""/>
          <p:cNvSpPr/>
          <p:nvPr/>
        </p:nvSpPr>
        <p:spPr>
          <a:xfrm>
            <a:off x="666750" y="2714625"/>
            <a:ext cx="76200" cy="3000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914400" y="2886075"/>
            <a:ext cx="63627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dget Breakdown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914400" y="3267075"/>
            <a:ext cx="6362700" cy="22193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سوف يحل كل شي]]></a:t>
            </a:r>
          </a:p>
        </p:txBody>
      </p:sp>
      <p:sp>
        <p:nvSpPr>
          <p:cNvPr id="23" name="" descr=""/>
          <p:cNvSpPr/>
          <p:nvPr/>
        </p:nvSpPr>
        <p:spPr>
          <a:xfrm>
            <a:off x="7810500" y="2714625"/>
            <a:ext cx="3714750" cy="3000375"/>
          </a:xfrm>
          <a:prstGeom prst="rect">
            <a:avLst/>
          </a:prstGeom>
          <a:solidFill>
            <a:srgbClr val="081B3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4" name="" descr=""/>
          <p:cNvSpPr/>
          <p:nvPr/>
        </p:nvSpPr>
        <p:spPr>
          <a:xfrm>
            <a:off x="7810500" y="2714625"/>
            <a:ext cx="3714750" cy="76200"/>
          </a:xfrm>
          <a:prstGeom prst="rect">
            <a:avLst/>
          </a:prstGeom>
          <a:solidFill>
            <a:srgbClr val="16A34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5" name=""/>
          <p:cNvSpPr txBox="1"/>
          <p:nvPr/>
        </p:nvSpPr>
        <p:spPr>
          <a:xfrm>
            <a:off x="8096250" y="3028950"/>
            <a:ext cx="26670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unding Position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8096250" y="3390900"/>
            <a:ext cx="2857500" cy="533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100" spc="0" u="none" cap="none">
                <a:solidFill>
                  <a:srgbClr val="BBF7D0">
                    <a:alpha val="100000"/>
                  </a:srgbClr>
                </a:solidFill>
                <a:latin typeface="Calibri"/>
              </a:rPr>
              <a:t><![CDATA[$2,000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8096250" y="4000500"/>
            <a:ext cx="27622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Target capital requirement]]></a:t>
            </a:r>
          </a:p>
        </p:txBody>
      </p:sp>
      <p:sp>
        <p:nvSpPr>
          <p:cNvPr id="28" name="" descr=""/>
          <p:cNvSpPr/>
          <p:nvPr/>
        </p:nvSpPr>
        <p:spPr>
          <a:xfrm>
            <a:off x="8096250" y="4362450"/>
            <a:ext cx="3143250" cy="9525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8096250" y="4591050"/>
            <a:ext cx="15240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Funding Needed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8096250" y="4781550"/>
            <a:ext cx="2857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yes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8096250" y="5124450"/>
            <a:ext cx="15240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FD6AE">
                    <a:alpha val="100000"/>
                  </a:srgbClr>
                </a:solidFill>
                <a:latin typeface="Calibri"/>
              </a:rPr>
              <a:t><![CDATA[Support Type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8096250" y="5314950"/>
            <a:ext cx="2857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technical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on Milestone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Key phases planned for implementation and delivery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1047750" y="3067050"/>
            <a:ext cx="10096500" cy="2857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562100"/>
            <a:ext cx="3333750" cy="3333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666750" y="1562100"/>
            <a:ext cx="333375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0" name=""/>
          <p:cNvSpPr txBox="1"/>
          <p:nvPr/>
        </p:nvSpPr>
        <p:spPr>
          <a:xfrm>
            <a:off x="933450" y="1866900"/>
            <a:ext cx="6667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60A5FA">
                    <a:alpha val="100000"/>
                  </a:srgbClr>
                </a:solidFill>
                <a:latin typeface="Calibri"/>
              </a:rPr>
              <a:t><![CDATA[01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933450" y="2171700"/>
            <a:ext cx="1428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Milestone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933450" y="2571750"/>
            <a:ext cx="2800350" cy="914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تكملة الخطة]]></a:t>
            </a:r>
          </a:p>
        </p:txBody>
      </p:sp>
      <p:sp>
        <p:nvSpPr>
          <p:cNvPr id="13" name="" descr=""/>
          <p:cNvSpPr/>
          <p:nvPr/>
        </p:nvSpPr>
        <p:spPr>
          <a:xfrm>
            <a:off x="2228850" y="2895600"/>
            <a:ext cx="171450" cy="1714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 descr=""/>
          <p:cNvSpPr/>
          <p:nvPr/>
        </p:nvSpPr>
        <p:spPr>
          <a:xfrm>
            <a:off x="933450" y="3905250"/>
            <a:ext cx="2800350" cy="952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933450" y="4114800"/>
            <a:ext cx="1143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Planned Month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933450" y="4343400"/>
            <a:ext cx="1524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3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1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381500" y="1562100"/>
            <a:ext cx="3333750" cy="3333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 descr=""/>
          <p:cNvSpPr/>
          <p:nvPr/>
        </p:nvSpPr>
        <p:spPr>
          <a:xfrm>
            <a:off x="4381500" y="1562100"/>
            <a:ext cx="333375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4648200" y="1866900"/>
            <a:ext cx="6667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60A5FA">
                    <a:alpha val="100000"/>
                  </a:srgbClr>
                </a:solidFill>
                <a:latin typeface="Calibri"/>
              </a:rPr>
              <a:t><![CDATA[02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648200" y="2171700"/>
            <a:ext cx="1428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Mileston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648200" y="2571750"/>
            <a:ext cx="2800350" cy="914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التجريب]]></a:t>
            </a:r>
          </a:p>
        </p:txBody>
      </p:sp>
      <p:sp>
        <p:nvSpPr>
          <p:cNvPr id="22" name="" descr=""/>
          <p:cNvSpPr/>
          <p:nvPr/>
        </p:nvSpPr>
        <p:spPr>
          <a:xfrm>
            <a:off x="5943600" y="2895600"/>
            <a:ext cx="171450" cy="1714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 descr=""/>
          <p:cNvSpPr/>
          <p:nvPr/>
        </p:nvSpPr>
        <p:spPr>
          <a:xfrm>
            <a:off x="4648200" y="3905250"/>
            <a:ext cx="2800350" cy="952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4" name=""/>
          <p:cNvSpPr txBox="1"/>
          <p:nvPr/>
        </p:nvSpPr>
        <p:spPr>
          <a:xfrm>
            <a:off x="4648200" y="4114800"/>
            <a:ext cx="1143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Planned Mon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4648200" y="4343400"/>
            <a:ext cx="1524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3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5]]></a:t>
            </a:r>
          </a:p>
        </p:txBody>
      </p:sp>
      <p:sp>
        <p:nvSpPr>
          <p:cNvPr id="26" name="" descr=""/>
          <p:cNvSpPr/>
          <p:nvPr/>
        </p:nvSpPr>
        <p:spPr>
          <a:xfrm>
            <a:off x="8096250" y="1562100"/>
            <a:ext cx="3333750" cy="3333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7" name="" descr=""/>
          <p:cNvSpPr/>
          <p:nvPr/>
        </p:nvSpPr>
        <p:spPr>
          <a:xfrm>
            <a:off x="8096250" y="1562100"/>
            <a:ext cx="333375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8" name=""/>
          <p:cNvSpPr txBox="1"/>
          <p:nvPr/>
        </p:nvSpPr>
        <p:spPr>
          <a:xfrm>
            <a:off x="8362950" y="1866900"/>
            <a:ext cx="6667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60A5FA">
                    <a:alpha val="100000"/>
                  </a:srgbClr>
                </a:solidFill>
                <a:latin typeface="Calibri"/>
              </a:rPr>
              <a:t><![CDATA[03]]></a:t>
            </a:r>
          </a:p>
        </p:txBody>
      </p:sp>
      <p:sp>
        <p:nvSpPr>
          <p:cNvPr id="29" name=""/>
          <p:cNvSpPr txBox="1"/>
          <p:nvPr/>
        </p:nvSpPr>
        <p:spPr>
          <a:xfrm>
            <a:off x="8362950" y="2171700"/>
            <a:ext cx="1428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Milestone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8362950" y="2571750"/>
            <a:ext cx="2800350" cy="914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كل شي]]></a:t>
            </a:r>
          </a:p>
        </p:txBody>
      </p:sp>
      <p:sp>
        <p:nvSpPr>
          <p:cNvPr id="31" name="" descr=""/>
          <p:cNvSpPr/>
          <p:nvPr/>
        </p:nvSpPr>
        <p:spPr>
          <a:xfrm>
            <a:off x="9658350" y="2895600"/>
            <a:ext cx="171450" cy="1714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2" name="" descr=""/>
          <p:cNvSpPr/>
          <p:nvPr/>
        </p:nvSpPr>
        <p:spPr>
          <a:xfrm>
            <a:off x="8362950" y="3905250"/>
            <a:ext cx="2800350" cy="952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3" name=""/>
          <p:cNvSpPr txBox="1"/>
          <p:nvPr/>
        </p:nvSpPr>
        <p:spPr>
          <a:xfrm>
            <a:off x="8362950" y="4114800"/>
            <a:ext cx="1143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Planned Month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8362950" y="4343400"/>
            <a:ext cx="1524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3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3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Academic & Review Readines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Institutional context, review status, and credibility indicators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52550"/>
            <a:ext cx="5143500" cy="2047875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352550"/>
            <a:ext cx="76200" cy="20478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14400" y="1524000"/>
            <a:ext cx="46482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Academic Contex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14400" y="1905000"/>
            <a:ext cx="4648200" cy="12668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Student: فردوس ناصر الادبعي
Academic Level: bachelor
Supervisor: مهند المشرقي
University: جامعة سباء
Department: تكنولوجيا المعلومات
Governorate: sanaa]]></a:t>
            </a:r>
          </a:p>
        </p:txBody>
      </p:sp>
      <p:sp>
        <p:nvSpPr>
          <p:cNvPr id="11" name="" descr=""/>
          <p:cNvSpPr/>
          <p:nvPr/>
        </p:nvSpPr>
        <p:spPr>
          <a:xfrm>
            <a:off x="6096000" y="1352550"/>
            <a:ext cx="5429250" cy="2047875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 descr=""/>
          <p:cNvSpPr/>
          <p:nvPr/>
        </p:nvSpPr>
        <p:spPr>
          <a:xfrm>
            <a:off x="6096000" y="1352550"/>
            <a:ext cx="76200" cy="20478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6343650" y="1524000"/>
            <a:ext cx="49339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inal Review Note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6343650" y="1905000"/>
            <a:ext cx="4933950" cy="12668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No final review note available.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66750" y="3714750"/>
            <a:ext cx="2428875" cy="1066800"/>
          </a:xfrm>
          <a:prstGeom prst="rect">
            <a:avLst/>
          </a:prstGeom>
          <a:solidFill>
            <a:srgbClr val="10234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/>
          <p:cNvSpPr txBox="1"/>
          <p:nvPr/>
        </p:nvSpPr>
        <p:spPr>
          <a:xfrm>
            <a:off x="819150" y="3848100"/>
            <a:ext cx="21240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Approved Reviews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819150" y="4133850"/>
            <a:ext cx="21240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]]></a:t>
            </a:r>
          </a:p>
        </p:txBody>
      </p:sp>
      <p:sp>
        <p:nvSpPr>
          <p:cNvPr id="18" name="" descr=""/>
          <p:cNvSpPr/>
          <p:nvPr/>
        </p:nvSpPr>
        <p:spPr>
          <a:xfrm>
            <a:off x="3286125" y="3714750"/>
            <a:ext cx="2428875" cy="1066800"/>
          </a:xfrm>
          <a:prstGeom prst="rect">
            <a:avLst/>
          </a:prstGeom>
          <a:solidFill>
            <a:srgbClr val="102A2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3438525" y="3848100"/>
            <a:ext cx="21240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86EFAC">
                    <a:alpha val="100000"/>
                  </a:srgbClr>
                </a:solidFill>
                <a:latin typeface="Calibri"/>
              </a:rPr>
              <a:t><![CDATA[Approved Investments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438525" y="4133850"/>
            <a:ext cx="21240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0]]></a:t>
            </a:r>
          </a:p>
        </p:txBody>
      </p:sp>
      <p:sp>
        <p:nvSpPr>
          <p:cNvPr id="21" name="" descr=""/>
          <p:cNvSpPr/>
          <p:nvPr/>
        </p:nvSpPr>
        <p:spPr>
          <a:xfrm>
            <a:off x="5905500" y="3714750"/>
            <a:ext cx="2428875" cy="1066800"/>
          </a:xfrm>
          <a:prstGeom prst="rect">
            <a:avLst/>
          </a:prstGeom>
          <a:solidFill>
            <a:srgbClr val="2317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2" name=""/>
          <p:cNvSpPr txBox="1"/>
          <p:nvPr/>
        </p:nvSpPr>
        <p:spPr>
          <a:xfrm>
            <a:off x="6057900" y="3848100"/>
            <a:ext cx="21240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D8B4FE">
                    <a:alpha val="100000"/>
                  </a:srgbClr>
                </a:solidFill>
                <a:latin typeface="Calibri"/>
              </a:rPr>
              <a:t><![CDATA[Scan Score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6057900" y="4133850"/>
            <a:ext cx="21240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available]]></a:t>
            </a:r>
          </a:p>
        </p:txBody>
      </p:sp>
      <p:sp>
        <p:nvSpPr>
          <p:cNvPr id="24" name="" descr=""/>
          <p:cNvSpPr/>
          <p:nvPr/>
        </p:nvSpPr>
        <p:spPr>
          <a:xfrm>
            <a:off x="8524875" y="3714750"/>
            <a:ext cx="3000375" cy="1066800"/>
          </a:xfrm>
          <a:prstGeom prst="rect">
            <a:avLst/>
          </a:prstGeom>
          <a:solidFill>
            <a:srgbClr val="311A0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5" name=""/>
          <p:cNvSpPr txBox="1"/>
          <p:nvPr/>
        </p:nvSpPr>
        <p:spPr>
          <a:xfrm>
            <a:off x="8677275" y="3848100"/>
            <a:ext cx="26955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DBA74">
                    <a:alpha val="100000"/>
                  </a:srgbClr>
                </a:solidFill>
                <a:latin typeface="Calibri"/>
              </a:rPr>
              <a:t><![CDATA[Scanner Status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8677275" y="4133850"/>
            <a:ext cx="26955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ailed]]></a:t>
            </a:r>
          </a:p>
        </p:txBody>
      </p:sp>
      <p:sp>
        <p:nvSpPr>
          <p:cNvPr id="27" name="" descr=""/>
          <p:cNvSpPr/>
          <p:nvPr/>
        </p:nvSpPr>
        <p:spPr>
          <a:xfrm>
            <a:off x="666750" y="5048250"/>
            <a:ext cx="10858500" cy="876300"/>
          </a:xfrm>
          <a:prstGeom prst="rect">
            <a:avLst/>
          </a:prstGeom>
          <a:solidFill>
            <a:srgbClr val="081B3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8" name="" descr=""/>
          <p:cNvSpPr/>
          <p:nvPr/>
        </p:nvSpPr>
        <p:spPr>
          <a:xfrm>
            <a:off x="666750" y="5048250"/>
            <a:ext cx="1085850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914400" y="5295900"/>
            <a:ext cx="20955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Decision Status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914400" y="5486400"/>
            <a:ext cx="23812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ublished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3714750" y="5295900"/>
            <a:ext cx="19050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Supervisor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3714750" y="5486400"/>
            <a:ext cx="2476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مهند المشرقي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6667500" y="5295900"/>
            <a:ext cx="17145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Student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6667500" y="5486400"/>
            <a:ext cx="22860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فردوس ناصر الادبعي]]></a:t>
            </a:r>
          </a:p>
        </p:txBody>
      </p:sp>
      <p:sp>
        <p:nvSpPr>
          <p:cNvPr id="35" name=""/>
          <p:cNvSpPr txBox="1"/>
          <p:nvPr/>
        </p:nvSpPr>
        <p:spPr>
          <a:xfrm>
            <a:off x="9334500" y="5295900"/>
            <a:ext cx="161925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Reviewed At]]></a:t>
            </a:r>
          </a:p>
        </p:txBody>
      </p:sp>
      <p:sp>
        <p:nvSpPr>
          <p:cNvPr id="36" name=""/>
          <p:cNvSpPr txBox="1"/>
          <p:nvPr/>
        </p:nvSpPr>
        <p:spPr>
          <a:xfrm>
            <a:off x="9334500" y="5486400"/>
            <a:ext cx="16192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2026-03-28 22:23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58">
  <a:themeElements>
    <a:clrScheme name="Theme5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2026-04-18T11:54:54Z</dcterms:created>
  <dcterms:modified xsi:type="dcterms:W3CDTF">2026-04-18T11:54:54Z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