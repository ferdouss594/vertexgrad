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562805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_126627451_p0cyybx1-780x470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4573250" cy="6858000"/>
          <a:chOff x="0" y="0"/>
          <a:chExt cx="1457325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5381625"/>
            <a:ext cx="12192000" cy="1476375"/>
          </a:xfrm>
          <a:prstGeom prst="rect">
            <a:avLst/>
          </a:prstGeom>
          <a:solidFill>
            <a:srgbClr val="09182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/>
          <p:cNvSpPr txBox="1"/>
          <p:nvPr/>
        </p:nvSpPr>
        <p:spPr>
          <a:xfrm>
            <a:off x="685800" y="495300"/>
            <a:ext cx="3238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300" spc="0" u="none" cap="none">
                <a:solidFill>
                  <a:srgbClr val="BFDBFE">
                    <a:alpha val="100000"/>
                  </a:srgbClr>
                </a:solidFill>
                <a:latin typeface="Calibri"/>
              </a:rPr>
              <a:t><![CDATA[VERTEXGRAD · INVESTOR PITCH DECK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85800" y="914400"/>
            <a:ext cx="666750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مشروع تعليمي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85800" y="1790700"/>
            <a:ext cx="6191250" cy="8001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ى]]></a:t>
            </a:r>
          </a:p>
        </p:txBody>
      </p:sp>
      <p:sp>
        <p:nvSpPr>
          <p:cNvPr id="8" name="" descr=""/>
          <p:cNvSpPr/>
          <p:nvPr/>
        </p:nvSpPr>
        <p:spPr>
          <a:xfrm>
            <a:off x="685800" y="2876550"/>
            <a:ext cx="6191250" cy="11430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8953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8953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953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griculture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38450" y="3086100"/>
            <a:ext cx="18097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83845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2838450" y="3467100"/>
            <a:ext cx="180975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800600" y="3086100"/>
            <a:ext cx="18669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16" name="" descr=""/>
          <p:cNvSpPr/>
          <p:nvPr/>
        </p:nvSpPr>
        <p:spPr>
          <a:xfrm>
            <a:off x="4800600" y="3314700"/>
            <a:ext cx="533400" cy="285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4800600" y="3467100"/>
            <a:ext cx="18669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8" name="" descr=""/>
          <p:cNvSpPr/>
          <p:nvPr/>
        </p:nvSpPr>
        <p:spPr>
          <a:xfrm>
            <a:off x="8115300" y="666750"/>
            <a:ext cx="3314700" cy="4095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 descr=""/>
          <p:cNvSpPr/>
          <p:nvPr/>
        </p:nvSpPr>
        <p:spPr>
          <a:xfrm>
            <a:off x="8267700" y="819150"/>
            <a:ext cx="3009900" cy="37909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pic>
        <p:nvPicPr>
          <p:cNvPr id="20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00" y="819150"/>
            <a:ext cx="6305550" cy="3790950"/>
          </a:xfrm>
          <a:prstGeom prst="rect">
            <a:avLst/>
          </a:prstGeom>
          <a:noFill/>
        </p:spPr>
      </p:pic>
      <p:sp>
        <p:nvSpPr>
          <p:cNvPr id="21" name="" descr=""/>
          <p:cNvSpPr/>
          <p:nvPr/>
        </p:nvSpPr>
        <p:spPr>
          <a:xfrm>
            <a:off x="685800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838200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838200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$200]]></a:t>
            </a:r>
          </a:p>
        </p:txBody>
      </p:sp>
      <p:sp>
        <p:nvSpPr>
          <p:cNvPr id="24" name="" descr=""/>
          <p:cNvSpPr/>
          <p:nvPr/>
        </p:nvSpPr>
        <p:spPr>
          <a:xfrm>
            <a:off x="3276600" y="5638800"/>
            <a:ext cx="214312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3429000" y="5772150"/>
            <a:ext cx="1838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3429000" y="6000750"/>
            <a:ext cx="183832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7" name="" descr=""/>
          <p:cNvSpPr/>
          <p:nvPr/>
        </p:nvSpPr>
        <p:spPr>
          <a:xfrm>
            <a:off x="5629275" y="5638800"/>
            <a:ext cx="2381250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/>
          <p:cNvSpPr txBox="1"/>
          <p:nvPr/>
        </p:nvSpPr>
        <p:spPr>
          <a:xfrm>
            <a:off x="5781675" y="57721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5781675" y="6000750"/>
            <a:ext cx="20764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0" name="" descr=""/>
          <p:cNvSpPr/>
          <p:nvPr/>
        </p:nvSpPr>
        <p:spPr>
          <a:xfrm>
            <a:off x="8220075" y="5638800"/>
            <a:ext cx="3762375" cy="7810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1" name=""/>
          <p:cNvSpPr txBox="1"/>
          <p:nvPr/>
        </p:nvSpPr>
        <p:spPr>
          <a:xfrm>
            <a:off x="8372475" y="5772150"/>
            <a:ext cx="3457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Institution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8372475" y="6000750"/>
            <a:ext cx="3457575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685800" y="6572250"/>
            <a:ext cx="107632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CBD5E1">
                    <a:alpha val="100000"/>
                  </a:srgbClr>
                </a:solidFill>
                <a:latin typeface="Calibri"/>
              </a:rPr>
              <a:t><![CDATA[Prepared for investor review and opportunity screening.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ve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A concise view of the project, its context, and its intended valu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14450"/>
            <a:ext cx="6953250" cy="20955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14450"/>
            <a:ext cx="76200" cy="2095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485900"/>
            <a:ext cx="6457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ject Summary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866900"/>
            <a:ext cx="6457950" cy="1314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ى]]></a:t>
            </a:r>
          </a:p>
        </p:txBody>
      </p:sp>
      <p:sp>
        <p:nvSpPr>
          <p:cNvPr id="11" name="" descr=""/>
          <p:cNvSpPr/>
          <p:nvPr/>
        </p:nvSpPr>
        <p:spPr>
          <a:xfrm>
            <a:off x="7905750" y="1390650"/>
            <a:ext cx="3429000" cy="59055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8077200" y="15049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8077200" y="16764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4" name="" descr=""/>
          <p:cNvSpPr/>
          <p:nvPr/>
        </p:nvSpPr>
        <p:spPr>
          <a:xfrm>
            <a:off x="7905750" y="2114550"/>
            <a:ext cx="3429000" cy="59055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8077200" y="22288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8077200" y="24003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leted]]></a:t>
            </a:r>
          </a:p>
        </p:txBody>
      </p:sp>
      <p:sp>
        <p:nvSpPr>
          <p:cNvPr id="17" name="" descr=""/>
          <p:cNvSpPr/>
          <p:nvPr/>
        </p:nvSpPr>
        <p:spPr>
          <a:xfrm>
            <a:off x="7905750" y="2838450"/>
            <a:ext cx="3429000" cy="59055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8077200" y="2952750"/>
            <a:ext cx="308610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Department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8077200" y="3124200"/>
            <a:ext cx="30861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5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 descr=""/>
          <p:cNvSpPr/>
          <p:nvPr/>
        </p:nvSpPr>
        <p:spPr>
          <a:xfrm>
            <a:off x="66675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89535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Nature]]></a:t>
            </a:r>
          </a:p>
        </p:txBody>
      </p:sp>
      <p:sp>
        <p:nvSpPr>
          <p:cNvPr id="23" name="" descr=""/>
          <p:cNvSpPr/>
          <p:nvPr/>
        </p:nvSpPr>
        <p:spPr>
          <a:xfrm>
            <a:off x="8953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89535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4381500" y="3771900"/>
            <a:ext cx="34290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 descr=""/>
          <p:cNvSpPr/>
          <p:nvPr/>
        </p:nvSpPr>
        <p:spPr>
          <a:xfrm>
            <a:off x="4381500" y="3771900"/>
            <a:ext cx="34290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/>
          <p:cNvSpPr txBox="1"/>
          <p:nvPr/>
        </p:nvSpPr>
        <p:spPr>
          <a:xfrm>
            <a:off x="4610100" y="4038600"/>
            <a:ext cx="29718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ject Type]]></a:t>
            </a:r>
          </a:p>
        </p:txBody>
      </p:sp>
      <p:sp>
        <p:nvSpPr>
          <p:cNvPr id="28" name="" descr=""/>
          <p:cNvSpPr/>
          <p:nvPr/>
        </p:nvSpPr>
        <p:spPr>
          <a:xfrm>
            <a:off x="461010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4610100" y="4591050"/>
            <a:ext cx="29718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0" name="" descr=""/>
          <p:cNvSpPr/>
          <p:nvPr/>
        </p:nvSpPr>
        <p:spPr>
          <a:xfrm>
            <a:off x="8096250" y="3771900"/>
            <a:ext cx="3238500" cy="20002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1" name="" descr=""/>
          <p:cNvSpPr/>
          <p:nvPr/>
        </p:nvSpPr>
        <p:spPr>
          <a:xfrm>
            <a:off x="8096250" y="3771900"/>
            <a:ext cx="3238500" cy="666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/>
          <p:cNvSpPr txBox="1"/>
          <p:nvPr/>
        </p:nvSpPr>
        <p:spPr>
          <a:xfrm>
            <a:off x="8324850" y="4038600"/>
            <a:ext cx="27813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Target Beneficiaries]]></a:t>
            </a:r>
          </a:p>
        </p:txBody>
      </p:sp>
      <p:sp>
        <p:nvSpPr>
          <p:cNvPr id="33" name="" descr=""/>
          <p:cNvSpPr/>
          <p:nvPr/>
        </p:nvSpPr>
        <p:spPr>
          <a:xfrm>
            <a:off x="8324850" y="4324350"/>
            <a:ext cx="704850" cy="28575"/>
          </a:xfrm>
          <a:prstGeom prst="rect">
            <a:avLst/>
          </a:prstGeom>
          <a:solidFill>
            <a:srgbClr val="60A5F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4" name=""/>
          <p:cNvSpPr txBox="1"/>
          <p:nvPr/>
        </p:nvSpPr>
        <p:spPr>
          <a:xfrm>
            <a:off x="8324850" y="4591050"/>
            <a:ext cx="2781300" cy="971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& Impact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Why this project matters and what value it aims to creat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roblem Statemen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Problem statement not provided.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286500" y="1352550"/>
            <a:ext cx="5238750" cy="224790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286500" y="1352550"/>
            <a:ext cx="76200" cy="22479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534150" y="1524000"/>
            <a:ext cx="47434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pected Impact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534150" y="1905000"/>
            <a:ext cx="4743450" cy="1466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Expected impact not provided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905250"/>
            <a:ext cx="10858500" cy="20383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 descr=""/>
          <p:cNvSpPr/>
          <p:nvPr/>
        </p:nvSpPr>
        <p:spPr>
          <a:xfrm>
            <a:off x="666750" y="3905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914400" y="42100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munity Benefit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914400" y="4591050"/>
            <a:ext cx="47625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Community benefit not provided.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286500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/>
          <p:cNvSpPr txBox="1"/>
          <p:nvPr/>
        </p:nvSpPr>
        <p:spPr>
          <a:xfrm>
            <a:off x="6419850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Categor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6419850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griculture]]></a:t>
            </a:r>
          </a:p>
        </p:txBody>
      </p:sp>
      <p:sp>
        <p:nvSpPr>
          <p:cNvPr id="22" name="" descr=""/>
          <p:cNvSpPr/>
          <p:nvPr/>
        </p:nvSpPr>
        <p:spPr>
          <a:xfrm>
            <a:off x="8048625" y="4324350"/>
            <a:ext cx="1571625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8181975" y="4457700"/>
            <a:ext cx="1304925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Beneficiaries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8181975" y="4705350"/>
            <a:ext cx="1304925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25" name="" descr=""/>
          <p:cNvSpPr/>
          <p:nvPr/>
        </p:nvSpPr>
        <p:spPr>
          <a:xfrm>
            <a:off x="9810750" y="4324350"/>
            <a:ext cx="1428750" cy="933450"/>
          </a:xfrm>
          <a:prstGeom prst="rect">
            <a:avLst/>
          </a:prstGeom>
          <a:solidFill>
            <a:srgbClr val="13254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6" name=""/>
          <p:cNvSpPr txBox="1"/>
          <p:nvPr/>
        </p:nvSpPr>
        <p:spPr>
          <a:xfrm>
            <a:off x="9944100" y="4457700"/>
            <a:ext cx="1162050" cy="1143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0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gion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9944100" y="4705350"/>
            <a:ext cx="11620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Overview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Capital need, timeline, and requested support structure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33500"/>
            <a:ext cx="2524125" cy="10287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/>
          <p:cNvSpPr txBox="1"/>
          <p:nvPr/>
        </p:nvSpPr>
        <p:spPr>
          <a:xfrm>
            <a:off x="819150" y="1466850"/>
            <a:ext cx="22193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Budget]]></a:t>
            </a:r>
          </a:p>
        </p:txBody>
      </p:sp>
      <p:sp>
        <p:nvSpPr>
          <p:cNvPr id="9" name=""/>
          <p:cNvSpPr txBox="1"/>
          <p:nvPr/>
        </p:nvSpPr>
        <p:spPr>
          <a:xfrm>
            <a:off x="819150" y="1752600"/>
            <a:ext cx="22193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$200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381375" y="1333500"/>
            <a:ext cx="2381250" cy="10287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3533775" y="1466850"/>
            <a:ext cx="207645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uration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3533775" y="1752600"/>
            <a:ext cx="207645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5953125" y="1333500"/>
            <a:ext cx="2667000" cy="10287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/>
          <p:cNvSpPr txBox="1"/>
          <p:nvPr/>
        </p:nvSpPr>
        <p:spPr>
          <a:xfrm>
            <a:off x="6105525" y="1466850"/>
            <a:ext cx="2362200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Needs Funding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6105525" y="1752600"/>
            <a:ext cx="23622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6" name="" descr=""/>
          <p:cNvSpPr/>
          <p:nvPr/>
        </p:nvSpPr>
        <p:spPr>
          <a:xfrm>
            <a:off x="8810625" y="1333500"/>
            <a:ext cx="2714625" cy="10287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7" name=""/>
          <p:cNvSpPr txBox="1"/>
          <p:nvPr/>
        </p:nvSpPr>
        <p:spPr>
          <a:xfrm>
            <a:off x="8963025" y="1466850"/>
            <a:ext cx="240982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8963025" y="1752600"/>
            <a:ext cx="240982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19" name="" descr=""/>
          <p:cNvSpPr/>
          <p:nvPr/>
        </p:nvSpPr>
        <p:spPr>
          <a:xfrm>
            <a:off x="666750" y="2714625"/>
            <a:ext cx="6858000" cy="30003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0" name="" descr=""/>
          <p:cNvSpPr/>
          <p:nvPr/>
        </p:nvSpPr>
        <p:spPr>
          <a:xfrm>
            <a:off x="666750" y="2714625"/>
            <a:ext cx="76200" cy="3000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914400" y="2886075"/>
            <a:ext cx="63627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dget Breakdow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914400" y="3267075"/>
            <a:ext cx="6362700" cy="22193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Budget breakdown not provided.]]></a:t>
            </a:r>
          </a:p>
        </p:txBody>
      </p:sp>
      <p:sp>
        <p:nvSpPr>
          <p:cNvPr id="23" name="" descr=""/>
          <p:cNvSpPr/>
          <p:nvPr/>
        </p:nvSpPr>
        <p:spPr>
          <a:xfrm>
            <a:off x="7810500" y="2714625"/>
            <a:ext cx="3714750" cy="3000375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 descr=""/>
          <p:cNvSpPr/>
          <p:nvPr/>
        </p:nvSpPr>
        <p:spPr>
          <a:xfrm>
            <a:off x="7810500" y="2714625"/>
            <a:ext cx="3714750" cy="762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096250" y="3028950"/>
            <a:ext cx="2667000" cy="2095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unding Position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096250" y="3390900"/>
            <a:ext cx="2857500" cy="533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100" spc="0" u="none" cap="none">
                <a:solidFill>
                  <a:srgbClr val="BBF7D0">
                    <a:alpha val="100000"/>
                  </a:srgbClr>
                </a:solidFill>
                <a:latin typeface="Calibri"/>
              </a:rPr>
              <a:t><![CDATA[$200]]></a:t>
            </a:r>
          </a:p>
        </p:txBody>
      </p:sp>
      <p:sp>
        <p:nvSpPr>
          <p:cNvPr id="27" name=""/>
          <p:cNvSpPr txBox="1"/>
          <p:nvPr/>
        </p:nvSpPr>
        <p:spPr>
          <a:xfrm>
            <a:off x="8096250" y="4000500"/>
            <a:ext cx="27622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Target capital requirement]]></a:t>
            </a:r>
          </a:p>
        </p:txBody>
      </p:sp>
      <p:sp>
        <p:nvSpPr>
          <p:cNvPr id="28" name="" descr=""/>
          <p:cNvSpPr/>
          <p:nvPr/>
        </p:nvSpPr>
        <p:spPr>
          <a:xfrm>
            <a:off x="8096250" y="4362450"/>
            <a:ext cx="3143250" cy="9525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8096250" y="45910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Funding Needed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096250" y="47815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8096250" y="5124450"/>
            <a:ext cx="1524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FD6AE">
                    <a:alpha val="100000"/>
                  </a:srgbClr>
                </a:solidFill>
                <a:latin typeface="Calibri"/>
              </a:rPr>
              <a:t><![CDATA[Support Type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8096250" y="5314950"/>
            <a:ext cx="2857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Execution Milestone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Key phases planned for implementation and delivery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1047750" y="3067050"/>
            <a:ext cx="10096500" cy="2857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6667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0" name=""/>
          <p:cNvSpPr txBox="1"/>
          <p:nvPr/>
        </p:nvSpPr>
        <p:spPr>
          <a:xfrm>
            <a:off x="9334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1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9334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9334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13" name="" descr=""/>
          <p:cNvSpPr/>
          <p:nvPr/>
        </p:nvSpPr>
        <p:spPr>
          <a:xfrm>
            <a:off x="22288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4" name="" descr=""/>
          <p:cNvSpPr/>
          <p:nvPr/>
        </p:nvSpPr>
        <p:spPr>
          <a:xfrm>
            <a:off x="9334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9334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9334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38150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 descr=""/>
          <p:cNvSpPr/>
          <p:nvPr/>
        </p:nvSpPr>
        <p:spPr>
          <a:xfrm>
            <a:off x="438150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464820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2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64820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64820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22" name="" descr=""/>
          <p:cNvSpPr/>
          <p:nvPr/>
        </p:nvSpPr>
        <p:spPr>
          <a:xfrm>
            <a:off x="594360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 descr=""/>
          <p:cNvSpPr/>
          <p:nvPr/>
        </p:nvSpPr>
        <p:spPr>
          <a:xfrm>
            <a:off x="464820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4" name=""/>
          <p:cNvSpPr txBox="1"/>
          <p:nvPr/>
        </p:nvSpPr>
        <p:spPr>
          <a:xfrm>
            <a:off x="464820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464820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  <p:sp>
        <p:nvSpPr>
          <p:cNvPr id="26" name="" descr=""/>
          <p:cNvSpPr/>
          <p:nvPr/>
        </p:nvSpPr>
        <p:spPr>
          <a:xfrm>
            <a:off x="8096250" y="1562100"/>
            <a:ext cx="3333750" cy="3333750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7" name="" descr=""/>
          <p:cNvSpPr/>
          <p:nvPr/>
        </p:nvSpPr>
        <p:spPr>
          <a:xfrm>
            <a:off x="8096250" y="1562100"/>
            <a:ext cx="333375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/>
          <p:cNvSpPr txBox="1"/>
          <p:nvPr/>
        </p:nvSpPr>
        <p:spPr>
          <a:xfrm>
            <a:off x="8362950" y="1866900"/>
            <a:ext cx="666750" cy="2476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60A5FA">
                    <a:alpha val="100000"/>
                  </a:srgbClr>
                </a:solidFill>
                <a:latin typeface="Calibri"/>
              </a:rPr>
              <a:t><![CDATA[03]]></a:t>
            </a:r>
          </a:p>
        </p:txBody>
      </p:sp>
      <p:sp>
        <p:nvSpPr>
          <p:cNvPr id="29" name=""/>
          <p:cNvSpPr txBox="1"/>
          <p:nvPr/>
        </p:nvSpPr>
        <p:spPr>
          <a:xfrm>
            <a:off x="8362950" y="2171700"/>
            <a:ext cx="142875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Milestone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8362950" y="2571750"/>
            <a:ext cx="2800350" cy="914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Milestone details not provided]]></a:t>
            </a:r>
          </a:p>
        </p:txBody>
      </p:sp>
      <p:sp>
        <p:nvSpPr>
          <p:cNvPr id="31" name="" descr=""/>
          <p:cNvSpPr/>
          <p:nvPr/>
        </p:nvSpPr>
        <p:spPr>
          <a:xfrm>
            <a:off x="9658350" y="2895600"/>
            <a:ext cx="171450" cy="1714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2" name="" descr=""/>
          <p:cNvSpPr/>
          <p:nvPr/>
        </p:nvSpPr>
        <p:spPr>
          <a:xfrm>
            <a:off x="8362950" y="3905250"/>
            <a:ext cx="2800350" cy="9525"/>
          </a:xfrm>
          <a:prstGeom prst="rect">
            <a:avLst/>
          </a:prstGeom>
          <a:solidFill>
            <a:srgbClr val="22355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3" name=""/>
          <p:cNvSpPr txBox="1"/>
          <p:nvPr/>
        </p:nvSpPr>
        <p:spPr>
          <a:xfrm>
            <a:off x="8362950" y="4114800"/>
            <a:ext cx="1143000" cy="1714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Planned Month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8362950" y="4343400"/>
            <a:ext cx="1524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3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TBD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" descr="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22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06101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/>
          <p:cNvSpPr txBox="1"/>
          <p:nvPr/>
        </p:nvSpPr>
        <p:spPr>
          <a:xfrm>
            <a:off x="666750" y="171450"/>
            <a:ext cx="7239000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& Review Readines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6750" y="895350"/>
            <a:ext cx="8191500" cy="190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300" spc="0" u="none" cap="none">
                <a:solidFill>
                  <a:srgbClr val="94A3B8">
                    <a:alpha val="100000"/>
                  </a:srgbClr>
                </a:solidFill>
                <a:latin typeface="Calibri"/>
              </a:rPr>
              <a:t><![CDATA[Institutional context, review status, and credibility indicators.]]></a:t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1428750" cy="4762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666750" y="1352550"/>
            <a:ext cx="514350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66675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14400" y="1524000"/>
            <a:ext cx="46482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Academic Contex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914400" y="1905000"/>
            <a:ext cx="464820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Student: قققققررر
Academic Level: Not specified
Supervisor: Not specified
University: Not specified
Department: Not specified
Governorate: Not specified]]></a:t>
            </a:r>
          </a:p>
        </p:txBody>
      </p:sp>
      <p:sp>
        <p:nvSpPr>
          <p:cNvPr id="11" name="" descr=""/>
          <p:cNvSpPr/>
          <p:nvPr/>
        </p:nvSpPr>
        <p:spPr>
          <a:xfrm>
            <a:off x="6096000" y="1352550"/>
            <a:ext cx="5429250" cy="2047875"/>
          </a:xfrm>
          <a:prstGeom prst="rect">
            <a:avLst/>
          </a:prstGeom>
          <a:solidFill>
            <a:srgbClr val="0F1D3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 descr=""/>
          <p:cNvSpPr/>
          <p:nvPr/>
        </p:nvSpPr>
        <p:spPr>
          <a:xfrm>
            <a:off x="6096000" y="1352550"/>
            <a:ext cx="76200" cy="20478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3" name=""/>
          <p:cNvSpPr txBox="1"/>
          <p:nvPr/>
        </p:nvSpPr>
        <p:spPr>
          <a:xfrm>
            <a:off x="6343650" y="1524000"/>
            <a:ext cx="49339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Final Review Note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6343650" y="1905000"/>
            <a:ext cx="4933950" cy="126682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700" spc="0" u="none" cap="none">
                <a:solidFill>
                  <a:srgbClr val="E5E7EB">
                    <a:alpha val="100000"/>
                  </a:srgbClr>
                </a:solidFill>
                <a:latin typeface="Calibri"/>
              </a:rPr>
              <a:t><![CDATA[No final review note available.]]></a:t>
            </a:r>
          </a:p>
        </p:txBody>
      </p:sp>
      <p:sp>
        <p:nvSpPr>
          <p:cNvPr id="15" name="" descr=""/>
          <p:cNvSpPr/>
          <p:nvPr/>
        </p:nvSpPr>
        <p:spPr>
          <a:xfrm>
            <a:off x="666750" y="3714750"/>
            <a:ext cx="2428875" cy="1066800"/>
          </a:xfrm>
          <a:prstGeom prst="rect">
            <a:avLst/>
          </a:prstGeom>
          <a:solidFill>
            <a:srgbClr val="10234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6" name=""/>
          <p:cNvSpPr txBox="1"/>
          <p:nvPr/>
        </p:nvSpPr>
        <p:spPr>
          <a:xfrm>
            <a:off x="81915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Approved Reviews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81915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0]]></a:t>
            </a:r>
          </a:p>
        </p:txBody>
      </p:sp>
      <p:sp>
        <p:nvSpPr>
          <p:cNvPr id="18" name="" descr=""/>
          <p:cNvSpPr/>
          <p:nvPr/>
        </p:nvSpPr>
        <p:spPr>
          <a:xfrm>
            <a:off x="3286125" y="3714750"/>
            <a:ext cx="2428875" cy="1066800"/>
          </a:xfrm>
          <a:prstGeom prst="rect">
            <a:avLst/>
          </a:prstGeom>
          <a:solidFill>
            <a:srgbClr val="102A20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3438525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86EFAC">
                    <a:alpha val="100000"/>
                  </a:srgbClr>
                </a:solidFill>
                <a:latin typeface="Calibri"/>
              </a:rPr>
              <a:t><![CDATA[Approved Investments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3438525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0]]></a:t>
            </a:r>
          </a:p>
        </p:txBody>
      </p:sp>
      <p:sp>
        <p:nvSpPr>
          <p:cNvPr id="21" name="" descr=""/>
          <p:cNvSpPr/>
          <p:nvPr/>
        </p:nvSpPr>
        <p:spPr>
          <a:xfrm>
            <a:off x="5905500" y="3714750"/>
            <a:ext cx="2428875" cy="1066800"/>
          </a:xfrm>
          <a:prstGeom prst="rect">
            <a:avLst/>
          </a:prstGeom>
          <a:solidFill>
            <a:srgbClr val="23173D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2" name=""/>
          <p:cNvSpPr txBox="1"/>
          <p:nvPr/>
        </p:nvSpPr>
        <p:spPr>
          <a:xfrm>
            <a:off x="6057900" y="3848100"/>
            <a:ext cx="21240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D8B4FE">
                    <a:alpha val="100000"/>
                  </a:srgbClr>
                </a:solidFill>
                <a:latin typeface="Calibri"/>
              </a:rPr>
              <a:t><![CDATA[Scan Score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6057900" y="4133850"/>
            <a:ext cx="21240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68.00]]></a:t>
            </a:r>
          </a:p>
        </p:txBody>
      </p:sp>
      <p:sp>
        <p:nvSpPr>
          <p:cNvPr id="24" name="" descr=""/>
          <p:cNvSpPr/>
          <p:nvPr/>
        </p:nvSpPr>
        <p:spPr>
          <a:xfrm>
            <a:off x="8524875" y="3714750"/>
            <a:ext cx="3000375" cy="1066800"/>
          </a:xfrm>
          <a:prstGeom prst="rect">
            <a:avLst/>
          </a:prstGeom>
          <a:solidFill>
            <a:srgbClr val="311A0C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5" name=""/>
          <p:cNvSpPr txBox="1"/>
          <p:nvPr/>
        </p:nvSpPr>
        <p:spPr>
          <a:xfrm>
            <a:off x="8677275" y="3848100"/>
            <a:ext cx="2695575" cy="1333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FDBA74">
                    <a:alpha val="100000"/>
                  </a:srgbClr>
                </a:solidFill>
                <a:latin typeface="Calibri"/>
              </a:rPr>
              <a:t><![CDATA[Scanner Status]]></a:t>
            </a:r>
          </a:p>
        </p:txBody>
      </p:sp>
      <p:sp>
        <p:nvSpPr>
          <p:cNvPr id="26" name=""/>
          <p:cNvSpPr txBox="1"/>
          <p:nvPr/>
        </p:nvSpPr>
        <p:spPr>
          <a:xfrm>
            <a:off x="8677275" y="4133850"/>
            <a:ext cx="2695575" cy="2667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mpleted]]></a:t>
            </a:r>
          </a:p>
        </p:txBody>
      </p:sp>
      <p:sp>
        <p:nvSpPr>
          <p:cNvPr id="27" name="" descr=""/>
          <p:cNvSpPr/>
          <p:nvPr/>
        </p:nvSpPr>
        <p:spPr>
          <a:xfrm>
            <a:off x="666750" y="5048250"/>
            <a:ext cx="10858500" cy="876300"/>
          </a:xfrm>
          <a:prstGeom prst="rect">
            <a:avLst/>
          </a:prstGeom>
          <a:solidFill>
            <a:srgbClr val="081B3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8" name="" descr=""/>
          <p:cNvSpPr/>
          <p:nvPr/>
        </p:nvSpPr>
        <p:spPr>
          <a:xfrm>
            <a:off x="666750" y="5048250"/>
            <a:ext cx="10858500" cy="762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9" name=""/>
          <p:cNvSpPr txBox="1"/>
          <p:nvPr/>
        </p:nvSpPr>
        <p:spPr>
          <a:xfrm>
            <a:off x="914400" y="5295900"/>
            <a:ext cx="2095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Decision Status]]></a:t>
            </a:r>
          </a:p>
        </p:txBody>
      </p:sp>
      <p:sp>
        <p:nvSpPr>
          <p:cNvPr id="30" name=""/>
          <p:cNvSpPr txBox="1"/>
          <p:nvPr/>
        </p:nvSpPr>
        <p:spPr>
          <a:xfrm>
            <a:off x="914400" y="5486400"/>
            <a:ext cx="2381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ending]]></a:t>
            </a:r>
          </a:p>
        </p:txBody>
      </p:sp>
      <p:sp>
        <p:nvSpPr>
          <p:cNvPr id="31" name=""/>
          <p:cNvSpPr txBox="1"/>
          <p:nvPr/>
        </p:nvSpPr>
        <p:spPr>
          <a:xfrm>
            <a:off x="3714750" y="5295900"/>
            <a:ext cx="19050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upervisor]]></a:t>
            </a:r>
          </a:p>
        </p:txBody>
      </p:sp>
      <p:sp>
        <p:nvSpPr>
          <p:cNvPr id="32" name=""/>
          <p:cNvSpPr txBox="1"/>
          <p:nvPr/>
        </p:nvSpPr>
        <p:spPr>
          <a:xfrm>
            <a:off x="3714750" y="5486400"/>
            <a:ext cx="24765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specified]]></a:t>
            </a:r>
          </a:p>
        </p:txBody>
      </p:sp>
      <p:sp>
        <p:nvSpPr>
          <p:cNvPr id="33" name=""/>
          <p:cNvSpPr txBox="1"/>
          <p:nvPr/>
        </p:nvSpPr>
        <p:spPr>
          <a:xfrm>
            <a:off x="6667500" y="5295900"/>
            <a:ext cx="171450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Student]]></a:t>
            </a:r>
          </a:p>
        </p:txBody>
      </p:sp>
      <p:sp>
        <p:nvSpPr>
          <p:cNvPr id="34" name=""/>
          <p:cNvSpPr txBox="1"/>
          <p:nvPr/>
        </p:nvSpPr>
        <p:spPr>
          <a:xfrm>
            <a:off x="6667500" y="5486400"/>
            <a:ext cx="228600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9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قققققررر]]></a:t>
            </a:r>
          </a:p>
        </p:txBody>
      </p:sp>
      <p:sp>
        <p:nvSpPr>
          <p:cNvPr id="35" name=""/>
          <p:cNvSpPr txBox="1"/>
          <p:nvPr/>
        </p:nvSpPr>
        <p:spPr>
          <a:xfrm>
            <a:off x="9334500" y="5295900"/>
            <a:ext cx="1619250" cy="1524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100" spc="0" u="none" cap="none">
                <a:solidFill>
                  <a:srgbClr val="93C5FD">
                    <a:alpha val="100000"/>
                  </a:srgbClr>
                </a:solidFill>
                <a:latin typeface="Calibri"/>
              </a:rPr>
              <a:t><![CDATA[Reviewed At]]></a:t>
            </a:r>
          </a:p>
        </p:txBody>
      </p:sp>
      <p:sp>
        <p:nvSpPr>
          <p:cNvPr id="36" name=""/>
          <p:cNvSpPr txBox="1"/>
          <p:nvPr/>
        </p:nvSpPr>
        <p:spPr>
          <a:xfrm>
            <a:off x="9334500" y="5486400"/>
            <a:ext cx="1619250" cy="2286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Not recorded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6">
  <a:themeElements>
    <a:clrScheme name="Theme7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6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2026-04-19T15:16:15Z</dcterms:created>
  <dcterms:modified xsi:type="dcterms:W3CDTF">2026-04-19T15:16:15Z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